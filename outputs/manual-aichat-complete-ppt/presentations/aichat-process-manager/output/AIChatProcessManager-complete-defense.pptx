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7ad1f8cdbd4498" /><Relationship Type="http://schemas.openxmlformats.org/officeDocument/2006/relationships/extended-properties" Target="/docProps/app.xml" Id="R35a013df800b4c5c" /><Relationship Type="http://schemas.openxmlformats.org/officeDocument/2006/relationships/officeDocument" Target="/ppt/presentation.xml" Id="Re2fec7da1da845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afa2c2bed841d3"/>
  </p:sldMasterIdLst>
  <p:notesMasterIdLst>
    <p:notesMasterId xmlns:r="http://schemas.openxmlformats.org/officeDocument/2006/relationships" r:id="Rc6b97de44ae3429b"/>
  </p:notesMasterIdLst>
  <p:sldIdLst>
    <p:sldId xmlns:r="http://schemas.openxmlformats.org/officeDocument/2006/relationships" id="256" r:id="R1c0f0ddabac24a59"/>
    <p:sldId xmlns:r="http://schemas.openxmlformats.org/officeDocument/2006/relationships" id="257" r:id="R30420652532b4976"/>
    <p:sldId xmlns:r="http://schemas.openxmlformats.org/officeDocument/2006/relationships" id="258" r:id="R2f2c810bfefe4548"/>
    <p:sldId xmlns:r="http://schemas.openxmlformats.org/officeDocument/2006/relationships" id="259" r:id="R692558ed3c3f46d5"/>
    <p:sldId xmlns:r="http://schemas.openxmlformats.org/officeDocument/2006/relationships" id="260" r:id="Rc7b9d8dd115b4338"/>
    <p:sldId xmlns:r="http://schemas.openxmlformats.org/officeDocument/2006/relationships" id="261" r:id="R2480f934fcb34b98"/>
    <p:sldId xmlns:r="http://schemas.openxmlformats.org/officeDocument/2006/relationships" id="262" r:id="Ra3de3b63a55148fd"/>
    <p:sldId xmlns:r="http://schemas.openxmlformats.org/officeDocument/2006/relationships" id="263" r:id="R6aaf024f363d450a"/>
    <p:sldId xmlns:r="http://schemas.openxmlformats.org/officeDocument/2006/relationships" id="264" r:id="Rabbca16afe2240d4"/>
    <p:sldId xmlns:r="http://schemas.openxmlformats.org/officeDocument/2006/relationships" id="265" r:id="Rb10f514b4bcf4353"/>
    <p:sldId xmlns:r="http://schemas.openxmlformats.org/officeDocument/2006/relationships" id="266" r:id="Rde2c83bf1aa743ae"/>
    <p:sldId xmlns:r="http://schemas.openxmlformats.org/officeDocument/2006/relationships" id="267" r:id="R46628a89099b4e89"/>
    <p:sldId xmlns:r="http://schemas.openxmlformats.org/officeDocument/2006/relationships" id="268" r:id="Rd42189d252ef431d"/>
    <p:sldId xmlns:r="http://schemas.openxmlformats.org/officeDocument/2006/relationships" id="269" r:id="R8d136b2f0ba547c5"/>
    <p:sldId xmlns:r="http://schemas.openxmlformats.org/officeDocument/2006/relationships" id="270" r:id="R63f5767781c34303"/>
    <p:sldId xmlns:r="http://schemas.openxmlformats.org/officeDocument/2006/relationships" id="271" r:id="Rc47a3fc8aff34f5b"/>
    <p:sldId xmlns:r="http://schemas.openxmlformats.org/officeDocument/2006/relationships" id="272" r:id="R1d74c6cb3b054b99"/>
    <p:sldId xmlns:r="http://schemas.openxmlformats.org/officeDocument/2006/relationships" id="273" r:id="R6d0ce41972714603"/>
    <p:sldId xmlns:r="http://schemas.openxmlformats.org/officeDocument/2006/relationships" id="274" r:id="R0f4bb54388844cfc"/>
    <p:sldId xmlns:r="http://schemas.openxmlformats.org/officeDocument/2006/relationships" id="275" r:id="Ra49f5db5ba0e4deb"/>
    <p:sldId xmlns:r="http://schemas.openxmlformats.org/officeDocument/2006/relationships" id="276" r:id="R518a1d0282b24ce6"/>
    <p:sldId xmlns:r="http://schemas.openxmlformats.org/officeDocument/2006/relationships" id="277" r:id="Rf3cd0c98f22746e1"/>
    <p:sldId xmlns:r="http://schemas.openxmlformats.org/officeDocument/2006/relationships" id="278" r:id="Re7b63f2cb27c49b8"/>
    <p:sldId xmlns:r="http://schemas.openxmlformats.org/officeDocument/2006/relationships" id="279" r:id="R8f422244451b45ff"/>
    <p:sldId xmlns:r="http://schemas.openxmlformats.org/officeDocument/2006/relationships" id="280" r:id="R23dcc024c9c641e5"/>
    <p:sldId xmlns:r="http://schemas.openxmlformats.org/officeDocument/2006/relationships" id="281" r:id="R5f379203480649e7"/>
    <p:sldId xmlns:r="http://schemas.openxmlformats.org/officeDocument/2006/relationships" id="282" r:id="R5475dc60d2064c9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1ea951e2de478c" /><Relationship Type="http://schemas.openxmlformats.org/officeDocument/2006/relationships/slideMaster" Target="/ppt/slideMasters/slideMaster1.xml" Id="Re0afa2c2bed841d3" /><Relationship Type="http://schemas.openxmlformats.org/officeDocument/2006/relationships/notesMaster" Target="/ppt/notesMasters/notesMaster1.xml" Id="Rc6b97de44ae3429b" /><Relationship Type="http://schemas.openxmlformats.org/officeDocument/2006/relationships/presProps" Target="/ppt/presProps.xml" Id="Rb6b6d92642a848a2" /><Relationship Type="http://schemas.openxmlformats.org/officeDocument/2006/relationships/viewProps" Target="/ppt/viewProps.xml" Id="Rcd4300c865aa439a" /><Relationship Type="http://schemas.openxmlformats.org/officeDocument/2006/relationships/tableStyles" Target="/ppt/tableStyles.xml" Id="R38c5d9cc7bb24a1a" /><Relationship Type="http://schemas.openxmlformats.org/officeDocument/2006/relationships/slide" Target="/ppt/slides/slide1.xml" Id="R1c0f0ddabac24a59" /><Relationship Type="http://schemas.openxmlformats.org/officeDocument/2006/relationships/slide" Target="/ppt/slides/slide2.xml" Id="R30420652532b4976" /><Relationship Type="http://schemas.openxmlformats.org/officeDocument/2006/relationships/slide" Target="/ppt/slides/slide3.xml" Id="R2f2c810bfefe4548" /><Relationship Type="http://schemas.openxmlformats.org/officeDocument/2006/relationships/slide" Target="/ppt/slides/slide4.xml" Id="R692558ed3c3f46d5" /><Relationship Type="http://schemas.openxmlformats.org/officeDocument/2006/relationships/slide" Target="/ppt/slides/slide5.xml" Id="Rc7b9d8dd115b4338" /><Relationship Type="http://schemas.openxmlformats.org/officeDocument/2006/relationships/slide" Target="/ppt/slides/slide6.xml" Id="R2480f934fcb34b98" /><Relationship Type="http://schemas.openxmlformats.org/officeDocument/2006/relationships/slide" Target="/ppt/slides/slide7.xml" Id="Ra3de3b63a55148fd" /><Relationship Type="http://schemas.openxmlformats.org/officeDocument/2006/relationships/slide" Target="/ppt/slides/slide8.xml" Id="R6aaf024f363d450a" /><Relationship Type="http://schemas.openxmlformats.org/officeDocument/2006/relationships/slide" Target="/ppt/slides/slide9.xml" Id="Rabbca16afe2240d4" /><Relationship Type="http://schemas.openxmlformats.org/officeDocument/2006/relationships/slide" Target="/ppt/slides/slide10.xml" Id="Rb10f514b4bcf4353" /><Relationship Type="http://schemas.openxmlformats.org/officeDocument/2006/relationships/slide" Target="/ppt/slides/slide11.xml" Id="Rde2c83bf1aa743ae" /><Relationship Type="http://schemas.openxmlformats.org/officeDocument/2006/relationships/slide" Target="/ppt/slides/slide12.xml" Id="R46628a89099b4e89" /><Relationship Type="http://schemas.openxmlformats.org/officeDocument/2006/relationships/slide" Target="/ppt/slides/slide13.xml" Id="Rd42189d252ef431d" /><Relationship Type="http://schemas.openxmlformats.org/officeDocument/2006/relationships/slide" Target="/ppt/slides/slide14.xml" Id="R8d136b2f0ba547c5" /><Relationship Type="http://schemas.openxmlformats.org/officeDocument/2006/relationships/slide" Target="/ppt/slides/slide15.xml" Id="R63f5767781c34303" /><Relationship Type="http://schemas.openxmlformats.org/officeDocument/2006/relationships/slide" Target="/ppt/slides/slide16.xml" Id="Rc47a3fc8aff34f5b" /><Relationship Type="http://schemas.openxmlformats.org/officeDocument/2006/relationships/slide" Target="/ppt/slides/slide17.xml" Id="R1d74c6cb3b054b99" /><Relationship Type="http://schemas.openxmlformats.org/officeDocument/2006/relationships/slide" Target="/ppt/slides/slide18.xml" Id="R6d0ce41972714603" /><Relationship Type="http://schemas.openxmlformats.org/officeDocument/2006/relationships/slide" Target="/ppt/slides/slide19.xml" Id="R0f4bb54388844cfc" /><Relationship Type="http://schemas.openxmlformats.org/officeDocument/2006/relationships/slide" Target="/ppt/slides/slide20.xml" Id="Ra49f5db5ba0e4deb" /><Relationship Type="http://schemas.openxmlformats.org/officeDocument/2006/relationships/slide" Target="/ppt/slides/slide21.xml" Id="R518a1d0282b24ce6" /><Relationship Type="http://schemas.openxmlformats.org/officeDocument/2006/relationships/slide" Target="/ppt/slides/slide22.xml" Id="Rf3cd0c98f22746e1" /><Relationship Type="http://schemas.openxmlformats.org/officeDocument/2006/relationships/slide" Target="/ppt/slides/slide23.xml" Id="Re7b63f2cb27c49b8" /><Relationship Type="http://schemas.openxmlformats.org/officeDocument/2006/relationships/slide" Target="/ppt/slides/slide24.xml" Id="R8f422244451b45ff" /><Relationship Type="http://schemas.openxmlformats.org/officeDocument/2006/relationships/slide" Target="/ppt/slides/slide25.xml" Id="R23dcc024c9c641e5" /><Relationship Type="http://schemas.openxmlformats.org/officeDocument/2006/relationships/slide" Target="/ppt/slides/slide26.xml" Id="R5f379203480649e7" /><Relationship Type="http://schemas.openxmlformats.org/officeDocument/2006/relationships/slide" Target="/ppt/slides/slide27.xml" Id="R5475dc60d2064c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ed6ef7ed3148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8943dce1354dfd" /><Relationship Type="http://schemas.openxmlformats.org/officeDocument/2006/relationships/notesMaster" Target="/ppt/notesMasters/notesMaster1.xml" Id="R6dcdf840af804b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cd12a9e6ab4263" /><Relationship Type="http://schemas.openxmlformats.org/officeDocument/2006/relationships/notesMaster" Target="/ppt/notesMasters/notesMaster1.xml" Id="Rda29e98922c348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05f50695db42bb" /><Relationship Type="http://schemas.openxmlformats.org/officeDocument/2006/relationships/notesMaster" Target="/ppt/notesMasters/notesMaster1.xml" Id="R1873be3d54594a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e6f9c598024f67" /><Relationship Type="http://schemas.openxmlformats.org/officeDocument/2006/relationships/notesMaster" Target="/ppt/notesMasters/notesMaster1.xml" Id="R6797ed8321fc4c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d82bdcd71040aa" /><Relationship Type="http://schemas.openxmlformats.org/officeDocument/2006/relationships/notesMaster" Target="/ppt/notesMasters/notesMaster1.xml" Id="Rb98f1513c8ac47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109da3c0584f4a" /><Relationship Type="http://schemas.openxmlformats.org/officeDocument/2006/relationships/notesMaster" Target="/ppt/notesMasters/notesMaster1.xml" Id="R617387c4483d45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acd77ab60c4945" /><Relationship Type="http://schemas.openxmlformats.org/officeDocument/2006/relationships/notesMaster" Target="/ppt/notesMasters/notesMaster1.xml" Id="R288458c124994f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2a5c756c2f4f60" /><Relationship Type="http://schemas.openxmlformats.org/officeDocument/2006/relationships/notesMaster" Target="/ppt/notesMasters/notesMaster1.xml" Id="Rd80c3106f49643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7dc6e89d474970" /><Relationship Type="http://schemas.openxmlformats.org/officeDocument/2006/relationships/notesMaster" Target="/ppt/notesMasters/notesMaster1.xml" Id="R48fb45811e2949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15c53a7bda4926" /><Relationship Type="http://schemas.openxmlformats.org/officeDocument/2006/relationships/notesMaster" Target="/ppt/notesMasters/notesMaster1.xml" Id="R3ec08a3a59d4423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7cceccce464259" /><Relationship Type="http://schemas.openxmlformats.org/officeDocument/2006/relationships/notesMaster" Target="/ppt/notesMasters/notesMaster1.xml" Id="R02f33f29962748c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e518b7557884d19" /><Relationship Type="http://schemas.openxmlformats.org/officeDocument/2006/relationships/notesMaster" Target="/ppt/notesMasters/notesMaster1.xml" Id="R13c330a6312b4ed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64994d48dc840a4" /><Relationship Type="http://schemas.openxmlformats.org/officeDocument/2006/relationships/notesMaster" Target="/ppt/notesMasters/notesMaster1.xml" Id="Rbe8ec8d457a54c8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1e7171ada64ff4" /><Relationship Type="http://schemas.openxmlformats.org/officeDocument/2006/relationships/notesMaster" Target="/ppt/notesMasters/notesMaster1.xml" Id="R97f6899f166d431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2f5f5dcee4b4593" /><Relationship Type="http://schemas.openxmlformats.org/officeDocument/2006/relationships/notesMaster" Target="/ppt/notesMasters/notesMaster1.xml" Id="R898255592cdf4f0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da94235f81d426b" /><Relationship Type="http://schemas.openxmlformats.org/officeDocument/2006/relationships/notesMaster" Target="/ppt/notesMasters/notesMaster1.xml" Id="Rb6fa57556a79481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0f12afd9b884e76" /><Relationship Type="http://schemas.openxmlformats.org/officeDocument/2006/relationships/notesMaster" Target="/ppt/notesMasters/notesMaster1.xml" Id="R2f66909fb7944a8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50e7fe0f0b147b7" /><Relationship Type="http://schemas.openxmlformats.org/officeDocument/2006/relationships/notesMaster" Target="/ppt/notesMasters/notesMaster1.xml" Id="R7daa09467753440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a174ee6239b4183" /><Relationship Type="http://schemas.openxmlformats.org/officeDocument/2006/relationships/notesMaster" Target="/ppt/notesMasters/notesMaster1.xml" Id="R1816cb7d5d3148e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07f2770d7b64ea6" /><Relationship Type="http://schemas.openxmlformats.org/officeDocument/2006/relationships/notesMaster" Target="/ppt/notesMasters/notesMaster1.xml" Id="R9f7a28bb722e4a4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c02f11d17f94860" /><Relationship Type="http://schemas.openxmlformats.org/officeDocument/2006/relationships/notesMaster" Target="/ppt/notesMasters/notesMaster1.xml" Id="R5bba8671d61a467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dc58535effe4090" /><Relationship Type="http://schemas.openxmlformats.org/officeDocument/2006/relationships/notesMaster" Target="/ppt/notesMasters/notesMaster1.xml" Id="R492eafec82b345e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4b76f62721e449d" /><Relationship Type="http://schemas.openxmlformats.org/officeDocument/2006/relationships/notesMaster" Target="/ppt/notesMasters/notesMaster1.xml" Id="R3a8ea02e879e42c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1e3a70b8c7942c8" /><Relationship Type="http://schemas.openxmlformats.org/officeDocument/2006/relationships/notesMaster" Target="/ppt/notesMasters/notesMaster1.xml" Id="R0f6a3b91025640f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3b50aca96c148e6" /><Relationship Type="http://schemas.openxmlformats.org/officeDocument/2006/relationships/notesMaster" Target="/ppt/notesMasters/notesMaster1.xml" Id="R9a055510878f464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e2f5c0187dc4db2" /><Relationship Type="http://schemas.openxmlformats.org/officeDocument/2006/relationships/notesMaster" Target="/ppt/notesMasters/notesMaster1.xml" Id="R16d7ea9ff17d411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3a16731ed5b4006" /><Relationship Type="http://schemas.openxmlformats.org/officeDocument/2006/relationships/notesMaster" Target="/ppt/notesMasters/notesMaster1.xml" Id="Rc17dec28098846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996465198f44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466e814e304406" /><Relationship Type="http://schemas.openxmlformats.org/officeDocument/2006/relationships/slideLayout" Target="/ppt/slideLayouts/slideLayout1.xml" Id="R25b0518c42ea42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b0518c42ea42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ce6e7bc57458c" /><Relationship Type="http://schemas.openxmlformats.org/officeDocument/2006/relationships/notesSlide" Target="/ppt/notesSlides/notesSlide1.xml" Id="R44bbfd84c8c843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5302ea2bc4ff9" /><Relationship Type="http://schemas.openxmlformats.org/officeDocument/2006/relationships/notesSlide" Target="/ppt/notesSlides/notesSlide2.xml" Id="R4d07beffab5a47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6a381b25e4c1b" /><Relationship Type="http://schemas.openxmlformats.org/officeDocument/2006/relationships/notesSlide" Target="/ppt/notesSlides/notesSlide3.xml" Id="R97c2080e684241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f8d23d32147f8" /><Relationship Type="http://schemas.openxmlformats.org/officeDocument/2006/relationships/notesSlide" Target="/ppt/notesSlides/notesSlide4.xml" Id="R3f0d9f59865349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41ad63ec94ce1" /><Relationship Type="http://schemas.openxmlformats.org/officeDocument/2006/relationships/notesSlide" Target="/ppt/notesSlides/notesSlide5.xml" Id="R3ecf91ad4db941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756d0e43a4124" /><Relationship Type="http://schemas.openxmlformats.org/officeDocument/2006/relationships/notesSlide" Target="/ppt/notesSlides/notesSlide6.xml" Id="Rd8066db7942647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119bd75e341ef" /><Relationship Type="http://schemas.openxmlformats.org/officeDocument/2006/relationships/notesSlide" Target="/ppt/notesSlides/notesSlide7.xml" Id="R7a4ad0a0e5b349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fe5257f8040d0" /><Relationship Type="http://schemas.openxmlformats.org/officeDocument/2006/relationships/notesSlide" Target="/ppt/notesSlides/notesSlide8.xml" Id="R51578244db5340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a5f06bfc142de" /><Relationship Type="http://schemas.openxmlformats.org/officeDocument/2006/relationships/notesSlide" Target="/ppt/notesSlides/notesSlide9.xml" Id="R44e405a409524c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aa6d9c250436d" /><Relationship Type="http://schemas.openxmlformats.org/officeDocument/2006/relationships/notesSlide" Target="/ppt/notesSlides/notesSlide10.xml" Id="Rae6700ba5f6143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906f77f474cd5" /><Relationship Type="http://schemas.openxmlformats.org/officeDocument/2006/relationships/notesSlide" Target="/ppt/notesSlides/notesSlide11.xml" Id="R77d2765d97ec436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fc645965c4cf6" /><Relationship Type="http://schemas.openxmlformats.org/officeDocument/2006/relationships/notesSlide" Target="/ppt/notesSlides/notesSlide12.xml" Id="R59a6505c6c9b413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1866b10964bbd" /><Relationship Type="http://schemas.openxmlformats.org/officeDocument/2006/relationships/image" Target="/ppt/media/image.png" Id="R75bcdd0d09af4fb5" /><Relationship Type="http://schemas.openxmlformats.org/officeDocument/2006/relationships/notesSlide" Target="/ppt/notesSlides/notesSlide13.xml" Id="R7fa47d10679b40c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8ac9287404057" /><Relationship Type="http://schemas.openxmlformats.org/officeDocument/2006/relationships/image" Target="/ppt/media/image2.png" Id="R34f7c6e081ed4b7f" /><Relationship Type="http://schemas.openxmlformats.org/officeDocument/2006/relationships/notesSlide" Target="/ppt/notesSlides/notesSlide14.xml" Id="Red8636a949c640e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a762b1a7d4a31" /><Relationship Type="http://schemas.openxmlformats.org/officeDocument/2006/relationships/notesSlide" Target="/ppt/notesSlides/notesSlide15.xml" Id="R72b4154ef756457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d9b468cd043ba" /><Relationship Type="http://schemas.openxmlformats.org/officeDocument/2006/relationships/notesSlide" Target="/ppt/notesSlides/notesSlide16.xml" Id="Ra07eca7c61804d4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be7562c0b49de" /><Relationship Type="http://schemas.openxmlformats.org/officeDocument/2006/relationships/notesSlide" Target="/ppt/notesSlides/notesSlide17.xml" Id="Rd37bdb7e4a14408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ae54b87ec4e02" /><Relationship Type="http://schemas.openxmlformats.org/officeDocument/2006/relationships/notesSlide" Target="/ppt/notesSlides/notesSlide18.xml" Id="Rb8ae4d92aecf40b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b1f527be14188" /><Relationship Type="http://schemas.openxmlformats.org/officeDocument/2006/relationships/notesSlide" Target="/ppt/notesSlides/notesSlide19.xml" Id="Rb93b0ce01312448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7163164464bf2" /><Relationship Type="http://schemas.openxmlformats.org/officeDocument/2006/relationships/image" Target="/ppt/media/image3.png" Id="R69c09b60723f4633" /><Relationship Type="http://schemas.openxmlformats.org/officeDocument/2006/relationships/notesSlide" Target="/ppt/notesSlides/notesSlide20.xml" Id="Rc1bac2d81932423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61c1b473c45dc" /><Relationship Type="http://schemas.openxmlformats.org/officeDocument/2006/relationships/notesSlide" Target="/ppt/notesSlides/notesSlide21.xml" Id="R329e49f7aa6c4a4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aeaa75fef4b85" /><Relationship Type="http://schemas.openxmlformats.org/officeDocument/2006/relationships/notesSlide" Target="/ppt/notesSlides/notesSlide22.xml" Id="R82f72cd938d246a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b976fc5db4eac" /><Relationship Type="http://schemas.openxmlformats.org/officeDocument/2006/relationships/notesSlide" Target="/ppt/notesSlides/notesSlide23.xml" Id="R7eef51ac417f45e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aa2f2a9d7490b" /><Relationship Type="http://schemas.openxmlformats.org/officeDocument/2006/relationships/notesSlide" Target="/ppt/notesSlides/notesSlide24.xml" Id="Rf5be133e1db8433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052d8ab6445c5" /><Relationship Type="http://schemas.openxmlformats.org/officeDocument/2006/relationships/notesSlide" Target="/ppt/notesSlides/notesSlide25.xml" Id="R7ee1d305b69f4ae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55f9232394021" /><Relationship Type="http://schemas.openxmlformats.org/officeDocument/2006/relationships/notesSlide" Target="/ppt/notesSlides/notesSlide26.xml" Id="R6999e5982ef5449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328d8cf28485d" /><Relationship Type="http://schemas.openxmlformats.org/officeDocument/2006/relationships/notesSlide" Target="/ppt/notesSlides/notesSlide27.xml" Id="Ra5c1b0536692439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0B5C53-ACDB-4715-BE17-E4D62D3F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35085-1F25-4EA1-9991-4E6D09FA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DDF50-CC13-464A-A153-95F139EC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01681-DAD2-46A7-993A-99A1AE98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B7A5C-FBF5-4123-B0A4-C864DB32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15F06-0FD7-4678-8C87-870DF883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58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>
              <a:alpha val="20000"/>
            </a:srgbClr>
          </a:solidFill>
          <a:ln xmlns:a="http://schemas.openxmlformats.org/drawingml/2006/main" w="11430">
            <a:solidFill>
              <a:srgbClr val="002FA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0D294-19CB-4BDC-81C3-5627C457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62000"/>
            <a:ext cx="1581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COURSE DESIGN DEFENSE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333F8-B63F-4DD5-84C1-D282281D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AIChatProcessManager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46FC2F-FFE8-46C2-810E-187BA2AF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571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AI 会话过程管理系统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9FCFD2-0D23-4CC7-B8EC-CD2E61AB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面向 AI 回复全过程链路的数据建模、功能设计、数据库设计与系统实现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4DB5CE-0DE9-40A7-928D-D98B606F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819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课程名称：数据库课程设计    学生姓名：XXX    学号：XXXXXXXX    专业班级：XXXX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109E0E-C76E-447F-B6B6-D64AC83D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内容覆盖背景与意义、技术框架、用户需求、功能设计、数据库设计、系统实现、总结反思与致谢，展示系统从建模到落地的完整过程。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D90C79-5C55-4E1F-B1D1-A6F5B620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37579-9683-4C74-8BF1-95526C3A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BC4724-9E5F-46D7-8234-A5E7BA1F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1970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核心数据表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6AF063-DF94-4BCE-8F84-C938E247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6250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10+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01A7CC-F80A-44C2-84DA-FA77F73A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1970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API 模块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76993C-1E67-455F-B7B4-3138DB90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6250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A7598C-125A-4601-8538-B63C946D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1970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用户角色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64AA4F-E1D7-4FF6-806A-2CF450D1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6250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20A34E-65C7-4660-8612-F9379723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1970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过程维度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23E274-2FF9-4565-A781-97E6FCA5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72200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Vue 3 / FastAPI / SQLAlchemy / MySQL / Docker Compose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A0ACA8-576A-4037-BBDD-87E1F437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84E8F2-63AE-4741-B624-E183AA0E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02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822222-BA5F-49C0-8C7A-D3FD4AC5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24525"/>
            <a:ext cx="939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本页概括系统主题、课程信息与项目范围，突出本项目围绕 AI 会话过程管理展开，覆盖数据建模、功能设计、数据库设计与系统实现几个核心层面。</a:t>
            </a:r>
          </a:p>
        </p:txBody>
      </p:sp>
    </p:spTree>
    <p:extLst>
      <p:ext uri="{BB962C8B-B14F-4D97-AF65-F5344CB8AC3E}">
        <p14:creationId xmlns:p14="http://schemas.microsoft.com/office/powerpoint/2010/main" val="11658733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D51702-9F25-49F8-B9A0-16857A89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4F472-8FCD-42C0-85D9-6E0667EF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0919B-D66C-44F6-BF6E-771BC608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C0BC4-5C4F-474B-8A59-ED77BB3C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52A87-E24C-4701-AE04-69AE930E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238B7-1540-45D9-824E-2C03A52A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3ACAE-B389-4B51-A289-6D5328D6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STORYLINE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EADF8-98F4-48F2-89FB-9971B0BB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76300"/>
            <a:ext cx="876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内容结构按“背景与意义 → 技术框架 → 用户需求 → 功能设计 → 数据库设计 → 系统实现 → 总结反思”展开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89406-73E6-48E5-80B1-213C2DE7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9DE26E-745A-4666-995C-782C0E29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764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545FA-F634-433A-925F-AC62962D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00275"/>
            <a:ext cx="76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2096E6-6B02-4E3F-B153-ACBD1BD8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5740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背景与意义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2C0C44-4180-40EF-949B-831D2360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0510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EE4014-BF13-46B0-8F59-42338254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28925"/>
            <a:ext cx="76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28BB3D-B81F-4A62-9920-5D8B38C0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8605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技术框架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4BBD79-ACDE-417C-95CE-917764F6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44D636-E957-4F56-A250-D1328076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57575"/>
            <a:ext cx="76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4ACAED-5AC2-4EE5-9628-FFAD2A1C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1470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用户需求与功能设计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7637C0-7F08-42EF-80BD-E3EEFD44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6240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3A3A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A3A3A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178286-BEEA-4F38-AF5F-2CD9D634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86225"/>
            <a:ext cx="76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87C071-517C-47C2-8AAF-36DC072C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94335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数据库设计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34D203-8634-4E47-8D40-6BCF7C1B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910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9B4202-53C9-4476-A9E3-00A0CD4E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14875"/>
            <a:ext cx="76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C427C5-F773-401E-BF23-84BDD9DA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7200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系统实现与运行验证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6F5CFB-8C74-446B-9831-D27E831F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1970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8F5779-5A0D-4DCB-8743-7D8E8F66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43525"/>
            <a:ext cx="76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4CB395-2348-434F-B423-C134EDEE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0065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总结与反思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F23580-BA5F-43FC-9404-E3A377F4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629299-690C-4F4F-B3A1-0BA7A8F6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EAA6B3-D409-404F-9553-61AA6AC3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11607D-CE04-41BB-B901-2BED629B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02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A1B1D1-6AFB-41DE-B4A8-B654A68D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24525"/>
            <a:ext cx="939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传统聊天系统更偏向结果展示，而本系统进一步关注回复形成过程中的结构化证据、行为记录、质量回流与平台治理需求，以提升数据可管理性。</a:t>
            </a:r>
          </a:p>
        </p:txBody>
      </p:sp>
    </p:spTree>
    <p:extLst>
      <p:ext uri="{BB962C8B-B14F-4D97-AF65-F5344CB8AC3E}">
        <p14:creationId xmlns:p14="http://schemas.microsoft.com/office/powerpoint/2010/main" val="4380676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71C470-8FFF-49B4-A1BC-A77C895B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D5331-9739-44BE-A326-54BB8047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D7082-104E-4950-82BE-BFD1555A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F4487-51A0-492B-853F-16C808A7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3A3CC-1C04-4387-A91C-96419181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8FC48-45D9-4779-9EA1-2D2F67DC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5C7FF-2AB1-43FE-ABBC-2AB68DFB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BACKGROUND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40616-7CF1-46C6-9981-0C012449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76300"/>
            <a:ext cx="876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传统聊天系统只保存结果，不利于 AI 会话过程的管理、复盘与治理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08A95-87DE-49D3-9ACB-39BAFD9A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41099A-213D-4D8A-873D-951A0DA1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28850"/>
            <a:ext cx="381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A3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302EF-595F-4E23-89E3-BDDB53EB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66950"/>
            <a:ext cx="379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普通聊天记录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1016F7-E53B-4E7D-BC79-B8B9D35E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09850"/>
            <a:ext cx="37909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用户问题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AI 最终回复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少量时间戳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1570C9-DF9A-4B55-ADA5-2A43B298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81200"/>
            <a:ext cx="381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E84599-F244-47B8-98BF-6B0EA2EE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193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过程管理平台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C63B71-DDE0-4FCB-9391-6BBE762C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62200"/>
            <a:ext cx="41719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消息正文与多内容块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reasoning 可见性控制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工具调用参数与状态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工具结果与错误信息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模型 token / 时延 / finish reason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2F68F8-DDA9-456B-8F0C-7E673997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14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系统将回复链路拆分为独立数据对象，使消息生产、过程记录、质量回流与治理动作能够在同一套结构中持续沉淀。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FF81FE-6BE4-4331-AFBB-6312BCD4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8220A0-EFD7-4506-B00E-0C1FED7F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5AABE-7F2C-4679-8DF9-A3E979B1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A1B7BE-F25F-4C5B-9F3A-6F89E2C5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02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FDDB72-D751-45A0-AC40-EDBD23A5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24525"/>
            <a:ext cx="939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系统核心不在单次问答展示，而在于把上下文、推理、工具调用、结果与反馈信号沉淀为可追踪、可治理、可分析的数据对象，形成过程化数据资产。</a:t>
            </a:r>
          </a:p>
        </p:txBody>
      </p:sp>
    </p:spTree>
    <p:extLst>
      <p:ext uri="{BB962C8B-B14F-4D97-AF65-F5344CB8AC3E}">
        <p14:creationId xmlns:p14="http://schemas.microsoft.com/office/powerpoint/2010/main" val="149435086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B51932-3514-44CD-9FA4-76B7E8A4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A84BC-BCC1-426F-A830-E9B2710B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2BBD0-7593-4C41-9A64-49647EC6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A21BB9-E47B-481C-B1B0-26533AE4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F1DDC-324A-4905-B1F9-BAD8389F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7AB2F-C25B-4908-A16E-5FAB4B94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C9795-72B2-4611-AA6D-27FB1D86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CORE THESIS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0A2AA-FE20-42C8-AA33-9B26342B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76300"/>
            <a:ext cx="876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系统价值不在“聊天”，而在把 AI 回复过程沉淀为可治理的数据资产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30B56-97DC-42AD-BCDB-164A2880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71356B-3D0B-4C60-B2A6-BB7B9B21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790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传统对话系统只保存问题与最终回复；本项目进一步记录 reasoning、tool calls、tool results、metadata、feedback 与 audit trail，让一次 AI 回复具备复盘、追踪、管理和扩展的基础。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F9D08-5A04-41D4-A7F4-CA8D7F3F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1962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8C101-2141-47EF-8C0E-3491632F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672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A1B0AB-EDCD-4EB3-A37C-1B598EDD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2910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过程可追踪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99DB5B-3B8F-4057-BD69-8B8896ED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95750"/>
            <a:ext cx="1962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8B102F-F72B-4433-9F1E-4E44A11F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672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996FDB-6080-4617-9FEE-33843170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2910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权限可隔离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3B540A-5F7E-4BE2-A6A6-A1F02201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95750"/>
            <a:ext cx="1962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775D8D-38C8-43CB-8530-4C3A749D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672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B30B33-13A8-4095-AF56-4CF11692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2910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反馈可回流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848234-8F65-4582-B91B-75C874C1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95750"/>
            <a:ext cx="1962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BC2815-8E0C-4FBF-8710-EC03E102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03D65A-2638-4F4F-B150-018FBA83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2910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治理可审计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6A1785-D2AB-4D2F-B8F6-BB64253B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D7092B-EA0D-451A-81AA-A6BF08CA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749C2C-2843-441B-9F96-4A165A61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AA16D3-505E-4270-8096-B25D3C18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02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2F3AEA-AFA8-407C-9F5E-C9D52970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24525"/>
            <a:ext cx="939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整套内容按照背景与意义、技术框架、用户需求、功能设计、数据库设计、系统实现与总结反思几个层次组织，形成从问题提出到系统落地的连续结构。</a:t>
            </a:r>
          </a:p>
        </p:txBody>
      </p:sp>
    </p:spTree>
    <p:extLst>
      <p:ext uri="{BB962C8B-B14F-4D97-AF65-F5344CB8AC3E}">
        <p14:creationId xmlns:p14="http://schemas.microsoft.com/office/powerpoint/2010/main" val="105175013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498A73-DFB9-40D7-A771-7CD3E44D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7AA7D-4859-4B11-B575-2F215694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46D3D-A254-4870-89F9-1944C037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00EAC-64CB-4331-A50E-5B5BBBAC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041D1-EDA3-4650-A521-ABAD7E3C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D61C3-A56D-498A-B420-B54EFF92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EA3D3-B47B-49EC-830B-9B49DFEA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TECH STACK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59564-B719-4F0A-9479-41611157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76300"/>
            <a:ext cx="876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技术框架由前端、后端、数据库与部署环境四部分共同组成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CAED5-D5D0-4A5C-B430-D7F87CE4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2D4EAF-8CB5-4062-B82D-E8168A85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381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A911A-BFB9-42A7-AA46-2D2E3649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Vue 3 Frontend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4AA62-09BF-47CA-88ED-6D0B59E1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18859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Element Plus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Pinia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Vite / TypeScript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组件成熟 / 状态清晰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6F495F-4FB0-4E00-8021-B11F0EEA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76625"/>
            <a:ext cx="4000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EB34FA-71A5-4AD4-90D7-B8C1007B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409950"/>
            <a:ext cx="142875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2FA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5DD94F-133D-44AD-9934-7E661BBB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14600"/>
            <a:ext cx="381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A2F0FD-434D-43CB-A707-828508C7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55270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FastAPI Backend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782474-4349-4122-8341-3729E5E2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895600"/>
            <a:ext cx="18859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JWT / bcrypt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Service layer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Pydantic schemas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接口组织简洁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563033-AC7E-4508-ACBA-12E4238A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476625"/>
            <a:ext cx="4000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1C685D-15F6-493D-BDF2-7744C7CC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09950"/>
            <a:ext cx="142875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2FA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2BBF2D-40B1-41D0-87FC-CF227C1B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14600"/>
            <a:ext cx="381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EA35C3-4510-4A8A-9CC0-276ED2DF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5270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MySQL 8.0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99CAD9-EDC5-46B0-9E73-B42D9C9E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95600"/>
            <a:ext cx="18859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13 tables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utf8mb4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seed data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关系型约束稳定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939896-8815-4ABC-A3EF-B498ED90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76625"/>
            <a:ext cx="4000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B996C6-2EEC-42BD-BDF1-B0AA8094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409950"/>
            <a:ext cx="142875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2FA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276D47-C0B1-4965-AB81-4F5E1537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514600"/>
            <a:ext cx="381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A3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9A8E0D-D807-4E28-BEB7-C18D13D4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55270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Docker Compose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5028F5-C92A-4947-87D3-D35893F5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895600"/>
            <a:ext cx="18859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Backend + DB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环境变量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可重复运行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部署链路统一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83AE23-B75B-44AD-BE46-3B2053BA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56FA62-F2E2-4A2B-8272-3BC294BD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80C12C-AE69-459D-A7C4-40D1802C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B41964-73A2-4876-88BF-F8EC4892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02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F89DEB-4F4D-4CFE-BC4E-AE668E7B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24525"/>
            <a:ext cx="939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需求分析从参与角色入手，分别描述用户侧使用诉求与管理侧治理诉求，进一步明确角色边界、功能范围以及系统在使用层与管理层的职责分工。</a:t>
            </a:r>
          </a:p>
        </p:txBody>
      </p:sp>
    </p:spTree>
    <p:extLst>
      <p:ext uri="{BB962C8B-B14F-4D97-AF65-F5344CB8AC3E}">
        <p14:creationId xmlns:p14="http://schemas.microsoft.com/office/powerpoint/2010/main" val="3614123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666338-E61B-4ED9-800E-FF248A7A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17D5C-ACF9-4B4B-9B83-C675E4C6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8DE82-9912-4099-86DE-CFA0BD71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EC7E5-0157-44B5-AF9A-69CD6A56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AF192-C696-459C-A4E3-90B9801F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0C858-3C05-4526-9809-0902D565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97F79-5715-4315-B807-1BEEE65A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TECH DETAIL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79E6EC-4777-4D93-BB58-1D341D0D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76300"/>
            <a:ext cx="876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系统接口按身份、会话、交互与治理四类能力拆分，支撑模块化实现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357EB-ADC7-411D-B768-AD746839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5F11F-B41B-41CD-BD41-DCAA149C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81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9E015-FC45-4DE4-8FD3-D1C2B58E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193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身份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9E755F-15CC-44E3-87C1-DC0DA7F6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62250"/>
            <a:ext cx="13906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auth / users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4442F-9E4E-4617-BEEA-1F1D5E5B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81250"/>
            <a:ext cx="381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29E221-9E00-4EF5-B0A3-AC82199E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193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角色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CCFFD-960F-417D-A010-1440AD55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0"/>
            <a:ext cx="13906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characters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EB4AB9-FD5C-4A0C-92B3-21004B57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81250"/>
            <a:ext cx="381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39071A-051D-457A-A00A-74B99295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193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会话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DDE87-0D10-4146-9F07-77658030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62250"/>
            <a:ext cx="13906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conversations / messages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E2E918-0262-4740-9D6E-22F690E7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81250"/>
            <a:ext cx="381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A3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7C5D5B-9CC0-44E2-941B-BFF8CAB6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193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交互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BF571C-51EC-4150-A924-F97009F2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62250"/>
            <a:ext cx="13906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favorites / feedbacks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65B7AB-AD7F-4566-861D-FDA7DBF4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81250"/>
            <a:ext cx="381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33570E-23C3-4461-9EDD-4032197D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193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治理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5B4996-8109-4285-B796-590B6A60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62250"/>
            <a:ext cx="13906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admin / logs / stats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1C99BB-9734-49B3-8370-B234C042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054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接口层通过统一前缀、分域路由和数据校验模型组织请求入口，使前后端联调路径、异常处理与权限控制保持一致。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2A67F3-2EFA-48B2-8C84-F016F5A1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C72DD6-FF4A-433F-9250-8495FAAA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5248B4-C6CC-4AEC-A267-95280C8E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D1202E-6AA3-4D29-9E18-616A3277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02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E9191C-D707-4CC8-92AE-A5607A45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24525"/>
            <a:ext cx="939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业务流程覆盖登录、会话创建、消息发送、过程入库、收藏反馈和后台治理，完整展示数据从交互产生到记录沉淀再到治理处理的流转路径。</a:t>
            </a:r>
          </a:p>
        </p:txBody>
      </p:sp>
    </p:spTree>
    <p:extLst>
      <p:ext uri="{BB962C8B-B14F-4D97-AF65-F5344CB8AC3E}">
        <p14:creationId xmlns:p14="http://schemas.microsoft.com/office/powerpoint/2010/main" val="137696868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6ED2AB-4799-4A8E-B843-A48D4130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E968D-28B9-42C8-B4EE-9201A7D6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6AD65-D0A6-403E-88BA-487A891F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A6A43-25DD-4F96-80EB-F7155AC5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6E0F9-D205-4524-B860-9C3B3252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90446-8C5E-4356-95F9-6817DB84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B0A7F-709A-40F1-AAE8-0F5BAEF0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USER REQUIREMENT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422F6-A79B-473D-96B2-2DE56578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76300"/>
            <a:ext cx="876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用户需求首先体现在两类参与者及其不同的功能目标上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35946-ACC8-4344-B16E-79C1DA61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ED2A2-66C8-4D7A-8EB3-0589C00A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33600"/>
            <a:ext cx="381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430F40-F970-41A2-8B3B-942F803F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71700"/>
            <a:ext cx="3962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普通用户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9CBE09-7B19-46DE-BDD4-35F978AF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3962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登录注册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创建 AI 角色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发起会话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收藏消息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提交反馈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查看个人统计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7591EC-03C9-4408-93E0-2DB537D2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33600"/>
            <a:ext cx="381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AA857-8BB7-4117-91BC-EF217A36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71700"/>
            <a:ext cx="3962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管理员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7AC183-4213-47FE-8640-A120B489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14600"/>
            <a:ext cx="3962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用户状态管理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角色状态治理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消息治理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反馈处理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系统日志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平台统计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D0B4F3-4134-4638-BC72-9FD798F1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10200"/>
            <a:ext cx="904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系统将创作类能力保留在用户侧，将状态治理、审核与统计统一收拢到管理侧，以形成清晰的权限边界与责任划分。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EAC831-9D2F-4E1C-9E9D-126927E0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BCB4B8-51C9-44FF-8BA6-B510FFD3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60390E-7484-4E4D-A2B1-245AB0A9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5DFAD1-4AAE-49E7-8C1B-2FA3C607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02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0CA52B-F7FE-40E4-A88A-DADEF9F5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24525"/>
            <a:ext cx="939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技术选型同时考虑开发效率、维护成本、生态成熟度与扩展空间，使前端交互、后端接口、关系型存储与部署编排之间保持稳定分工与清晰边界。</a:t>
            </a:r>
          </a:p>
        </p:txBody>
      </p:sp>
    </p:spTree>
    <p:extLst>
      <p:ext uri="{BB962C8B-B14F-4D97-AF65-F5344CB8AC3E}">
        <p14:creationId xmlns:p14="http://schemas.microsoft.com/office/powerpoint/2010/main" val="14754629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15EBFE-47D8-4F58-ACE6-AACBB168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A1120-9A4C-42BC-B08A-0CBB1404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71488-5FC7-4D47-B55D-7A3C2767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4B5D3-840C-4B00-AA30-DBC5183F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00BC6-5813-4DB7-8527-06E2860B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04894-7E07-4EB1-BD0D-EED1D80D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22B5B-7480-4648-932D-FE77B143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FUNCTION 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312557-AAA6-4991-8EA1-27C18C5F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76300"/>
            <a:ext cx="876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核心功能围绕一次完整会话流程展开：从登录、发起会话到过程入库与治理闭环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EF448C-96B3-43D9-856D-065C7C75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89DB0D-9509-42E7-BBA6-238F0278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65DE5-4ACC-4AD6-92ED-4F479EE6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384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35A9BF-AC5B-4D1C-B295-912CF64D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384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JWT 登录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4CCA8E-96F0-4AF1-9159-96F7982D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051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前台动作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36111F-0048-47A3-821A-659A612F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86050"/>
            <a:ext cx="45720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6CC8BD-D2B4-4968-9060-95D7D3C0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19375"/>
            <a:ext cx="142875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73737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AA6A4-2ED1-44B1-B91F-8DD699AB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1935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AEC690-DCD4-4E5C-9321-A6F16162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384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4B577D-8C37-4DAB-AD9B-DA999125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384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选择角色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EC3956-9F85-4099-AE46-017686A6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051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前台动作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7CA7AF-E095-488D-9D97-15047468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86050"/>
            <a:ext cx="45720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51A467-56D6-4055-A6BE-5D69CE4E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619375"/>
            <a:ext cx="142875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73737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FBA96C-67FD-4672-856B-68ADCB03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1935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044A19-E723-4BAD-9D50-FE540D52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ADE8B4-F5F0-4E23-82AA-2022773C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384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创建会话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A4C71C-9E89-4639-9440-E7B41575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051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前台动作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3509D5-5417-4AE8-90BB-EFE1CC65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86050"/>
            <a:ext cx="45720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BFAEF7-545E-4A1D-AFF8-A3245027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619375"/>
            <a:ext cx="142875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73737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82B2D7-DA62-4699-8CCD-0137EE2F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1935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4097B8-0C77-48D9-8638-75174A41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384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1D5DC3-E5E2-4AAC-9A2D-87E82A9D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384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发送消息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780585-682C-4A10-8302-B91CCE8E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051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前台动作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929C7C-1E78-413F-86F6-C1453007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B40F93-A2A0-4E2B-B3DA-FD5BBFA5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02C80E-70B3-4145-8E3C-D47595AE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957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AI 回复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A37ACE-02E1-4E80-A85C-ED5BE146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624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治理闭环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42D8DA-6235-49FC-AA64-D489757F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43400"/>
            <a:ext cx="45720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9287A4-4C3F-4AF8-B501-9A175F5D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276725"/>
            <a:ext cx="142875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73737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1C19A5-FC7C-485D-90E1-289FEB67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7670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588432-9535-4F3A-9166-33113805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957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B804BB-CBA3-4EC1-B806-C38EA7E2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957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过程入库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39B3A9-DA2B-420F-81CD-C00D0B96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3624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治理闭环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003102-1446-4528-A2D8-EBDBC76E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343400"/>
            <a:ext cx="45720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7255E37-EF12-4CD3-BAB8-C5372F54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276725"/>
            <a:ext cx="142875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73737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8469AF-3A44-413E-A8C7-72C7FBD4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7670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CA32201-A13D-4C6A-9CC3-5050A7DB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475AB5-0E66-44B8-8B93-D848DB95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收藏/反馈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E23D76D-A40C-4968-A202-97C9BFC0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624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治理闭环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F936F05-3531-4A64-ADF8-2E32CA35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45720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35169EA-28A5-43F2-95CF-502428F2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276725"/>
            <a:ext cx="142875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73737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E6C882-55C2-4998-8068-9D7EA38C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7670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537B589-D347-4ADA-96CC-B4A3CCF6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C69D0D9-2BA9-4B59-8542-B5A2521A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0957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后台治理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C09D2E8-C57A-4E7C-B53F-4E9B03BF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3624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治理闭环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E117D6B-7488-4AB2-AC99-243B2597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48300"/>
            <a:ext cx="923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消息、收藏、反馈、日志都挂在同一套身份与消息链路上，便于复盘和权限校验。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ABBC31D-4CFA-4AF4-B69C-C92ADFB4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F492135-2183-41EC-8C0B-9B148FC4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40B237F-A439-4823-9E29-33E7C688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21F2E50-5F14-46A5-9774-25CD1E59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02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C9BBA3C-309F-4B8D-9C83-A2658669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24525"/>
            <a:ext cx="939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接口层按身份、会话、交互和治理分域组织，统一前缀、参数校验与异常处理方式，有助于后续模块扩展、权限控制与前后端联调的一致性。</a:t>
            </a:r>
          </a:p>
        </p:txBody>
      </p:sp>
    </p:spTree>
    <p:extLst>
      <p:ext uri="{BB962C8B-B14F-4D97-AF65-F5344CB8AC3E}">
        <p14:creationId xmlns:p14="http://schemas.microsoft.com/office/powerpoint/2010/main" val="213668274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752131-D688-4B11-9CE6-18ED497B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2207E-094E-4D1E-A080-31FCFBA6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C0BE0-5683-4127-8AEA-1F6F10B3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7B62F-9823-41D9-BACE-1FE6E6A7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9175C-3EE0-4F11-840E-FF793C46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4DF6A-E634-4DCD-83AB-306964F8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4EA864-0ECA-4756-90C5-87A15690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FUNCTION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0EB22-9111-44E2-ACC0-91BD6D61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76300"/>
            <a:ext cx="876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功能设计同时考虑用户权限隔离、管理员治理能力和历史数据一致性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7386E3-CAC3-4D57-A6B6-7B13437C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31CC16-9A2C-4323-A2E2-79E88A21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用户侧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60F944-2848-4885-A7A3-B8A5BAE7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098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C6CEB-EB7D-4D00-90EA-6FF6F559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431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E22B5-D5F2-4F7B-9D57-CE68BD60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81250"/>
            <a:ext cx="588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73EF82-C2A9-4F74-BCE0-51207B2B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24150"/>
            <a:ext cx="588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只能访问自己的会话、消息、收藏和反馈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9A7ED-321D-4767-93DA-DC009B94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242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管理员侧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4427C2-4040-4337-A0AC-E2F7EF0B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385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C85F1E-6848-408B-A8DB-D12F732A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718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EC2A8A-A058-4FB2-8291-E971E2E1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409950"/>
            <a:ext cx="588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8CF34A-921B-499A-943A-7E9C186F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52850"/>
            <a:ext cx="588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可进入后台治理用户、角色、消息、反馈、日志和统计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483A46-50F0-4F76-8B32-7D937935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529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数据侧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FFA608-2EFA-4801-AC86-853405B2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672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FC5FC1-265D-4219-8C00-C17545C8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005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78F472-E474-4999-80BC-49C84269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438650"/>
            <a:ext cx="588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E532D7-C3C7-41FF-AE8F-118D1327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781550"/>
            <a:ext cx="588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角色删除改为禁用，历史会话仍保持引用完整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80B71E-9CF0-43C6-9DDC-31886AE3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5FC534-86E4-44C4-A249-F78AC4DD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34D11E-2F5E-4ED7-AFDA-14A13553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CDD7AD-B617-4116-813A-6C3D10B0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02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2E88D4-6CD1-4B0C-A33F-97BB91FB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24525"/>
            <a:ext cx="939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数据库总览从数据域角度组织表结构，体现身份数据、会话数据、过程数据与治理数据之间的整体关系，并为后续 ER 图与逻辑设计提供基础。</a:t>
            </a:r>
          </a:p>
        </p:txBody>
      </p:sp>
    </p:spTree>
    <p:extLst>
      <p:ext uri="{BB962C8B-B14F-4D97-AF65-F5344CB8AC3E}">
        <p14:creationId xmlns:p14="http://schemas.microsoft.com/office/powerpoint/2010/main" val="50416983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B9E87F-16B0-4A39-9ACA-CA202941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E35CEA-45F4-4108-A4A0-4FCBF246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C36F0-FC4B-40E9-8794-13EC4709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14376-A179-4750-B816-0156F704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BA962-53F8-4A20-8B60-E9E4E29B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8BF63-B873-440F-B4CB-CA8A2D33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FEF2A-C8D5-4C25-8481-E4A3920D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FUNCTION MODULE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B56D8-FD97-41A4-8117-41D44A4C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76300"/>
            <a:ext cx="876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前台功能模块围绕“角色 → 会话 → 消息详情 → 收藏/反馈”组织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32B49-D51C-4C2D-A4E1-A0F2D31C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A76BA-9721-442F-9740-8E87172F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1935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A36E4-8764-4B68-90CB-BC5A1B75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384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登录注册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A1814-27AB-4D7E-816F-8C0565FA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384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3707C0-6E27-48BB-ADF1-A5C9B9BA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1935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4BB122-9CD7-4329-906B-FCF34920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384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角色列表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01AA74-FED4-4A87-ABC6-8C2382EF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384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89B9AC-B830-432D-9FAB-BEF7D38E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1935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7D5BE7-43B8-4295-ACB4-A86B0152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384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会话列表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639972-C59C-4F46-906E-70F6407C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384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53FAFD-2676-4049-8417-CA9D351F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1935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A78AB8-7383-4DA9-9196-8CB97CF4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384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聊天详情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AB9151-BB35-4270-A164-93553E19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384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D34178-9374-43EE-BE86-C518A918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0520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389726-8A8D-425D-9B35-6ACB059D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242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过程详情弹窗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1937B7-9E93-44CC-AA80-CD12070A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2430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40F912-C803-4B09-B03F-1BC0FA7B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0520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C33592-87F0-4CA9-85F8-55AD702F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242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收藏中心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3AFADD-3780-4646-A57E-0CDB7C9C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2430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3FD52A-EE37-4D54-8646-711E018C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0520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DC9775-9759-4E7A-A66C-52821140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242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个人资料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F29276-84E2-4BE3-B711-791B9F56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2430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C973BC-B8F0-4FC7-99BF-FE210796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34000"/>
            <a:ext cx="923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前台界面围绕角色浏览、会话管理、消息详情和反馈沉淀四条路径展开，界面状态与业务状态通过统一 store 管理保持同步。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2D3CF2-F4B5-45C0-8050-883EAD3E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C6BAAC-46A6-426F-BBDD-B84FC240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E6325B-B542-4103-8EAA-280060A2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9B64B7-B14C-4052-BDDF-B8C416A0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02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4F977A-4F27-4E9D-AC9E-328A7548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24525"/>
            <a:ext cx="939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ER 图用于说明核心实体之间的主外键关系，集中展示用户、角色、会话、消息及过程子表之间的连接方式，是数据库概念设计层的中心视图。</a:t>
            </a:r>
          </a:p>
        </p:txBody>
      </p:sp>
    </p:spTree>
    <p:extLst>
      <p:ext uri="{BB962C8B-B14F-4D97-AF65-F5344CB8AC3E}">
        <p14:creationId xmlns:p14="http://schemas.microsoft.com/office/powerpoint/2010/main" val="58624525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BCEC44-0A48-4125-9CDC-EBEC1C7B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CC4CA-7249-4452-9FB8-47FC41BD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C8404-C5A8-436E-93B4-EFFC07BA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E2E0E-C963-4CE3-8199-738E8955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A0716-DD1C-403E-871C-86D077A4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22E11-D6D4-4DEB-AB7C-992F865A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02A13-FD6A-4E4D-AB76-5AE2AB41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FUNCTION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6E9ED-48AC-4C9D-812F-79710FA6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76300"/>
            <a:ext cx="876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收藏与反馈机制体现了功能设计中的质量回流与用户交互闭环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3F257-5B56-4210-BC6A-83E30F3A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34424-F9B9-4A5E-B2BD-A4B0A9BA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72F934-3B11-4A1C-85BC-78CE58A6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480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收藏消息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23AD73-4929-426D-A632-4AB5C9E4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718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ADAB02-86C5-4DFA-9887-68FD854A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43300"/>
            <a:ext cx="2857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5D21E-482A-47B7-8014-31A5210D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476625"/>
            <a:ext cx="142875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7373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A66952-E27E-477C-B494-73749C7E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4800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704197-327A-4DF2-94E5-A5C293E3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480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提交反馈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2DD6B6-180D-4145-9151-C0B0ABE7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718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7CA13F-6991-4BF9-B098-39994764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43300"/>
            <a:ext cx="2857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05DE1-DCE6-4910-9B4A-DEABDCFE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476625"/>
            <a:ext cx="142875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73737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4FE52D-A848-44F6-A3CE-252CF078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4800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14440E-0BB5-4E8C-B75B-CF1AE82C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480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关联 message_id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BE7179-4BC7-47E3-9F61-9469FF4B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718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EB69FB-B23D-44BF-95CE-CC1DD89B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543300"/>
            <a:ext cx="2857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7D43A2-E694-486D-8D86-14C5A035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476625"/>
            <a:ext cx="142875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73737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871ADD-81D1-4B0C-A7D1-F1B4C386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4800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32B185-F490-4683-A77D-697A9DA5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480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关联 character_id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5634C7-C690-4155-8EE9-6F171504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718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445E1A-CC72-4A5A-BC95-CFE1722F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43300"/>
            <a:ext cx="2857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85096F-70CA-4E1A-9EE0-87944A7D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476625"/>
            <a:ext cx="142875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73737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F65402-2F70-4591-94D1-78DAA275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4800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AF92E1-83DD-4579-BD06-C2D8D444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后台处理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AA40D7-8453-4C97-951B-8B4CF0EF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718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30B47B-61A2-485F-BBF3-57BE4B10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43300"/>
            <a:ext cx="2857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44E777-BB26-4A72-B645-43A81994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476625"/>
            <a:ext cx="142875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73737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EAE051-1993-4ABD-B265-E9EA84B2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4800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39DA1F-B614-4FE7-B627-15CF69F1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480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统计复盘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65A07E-D0DE-45AE-AF8F-2DCB5043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718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82FEA3-A659-4958-A09A-87029EFE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0"/>
            <a:ext cx="904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收藏与反馈数据构成用户侧质量回流入口，使系统能够从静态结果展示延伸到偏好分析、角色评估和内容优化。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DF7914-BB5D-402B-9B59-075F3623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F48669-FCC0-4527-80EC-3BE8A80B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C0CEFF-DCE1-4243-9F8E-DFA375DA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97A31C-1A75-4B33-AB4A-39CBB966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02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50E7AB-771B-461D-87BE-92196732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24525"/>
            <a:ext cx="939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逻辑设计通过主表与子表配合保持核心结构稳定，同时为多内容块、过程信息、性能数据和工具结果等变化更快的对象预留扩展空间。</a:t>
            </a:r>
          </a:p>
        </p:txBody>
      </p:sp>
    </p:spTree>
    <p:extLst>
      <p:ext uri="{BB962C8B-B14F-4D97-AF65-F5344CB8AC3E}">
        <p14:creationId xmlns:p14="http://schemas.microsoft.com/office/powerpoint/2010/main" val="17245476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95F66A-78CA-489F-80E7-D799BCDD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307B6-1021-4DEF-B3D5-12568936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9C4E5-74B8-445B-A5A7-79E08AF3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6DB2A-9CF4-4D55-9D8D-9C7640B2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7DB04-E7E1-41CF-96E5-EC16D9CA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1F1DE-CF6E-4424-86BE-15D1C9C6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5F903-8B05-463B-9559-0D30E755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DATABASE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654C84-0A46-4B34-AB62-55DA11E0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76300"/>
            <a:ext cx="876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数据库设计围绕身份、会话、过程链路与治理数据四个域展开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61BBFC-A53C-4942-9025-06744EE1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C88094-7FAE-4B9C-9A1E-7FF89E0B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14550"/>
            <a:ext cx="3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EF36E7-D620-48B1-91DB-C2B354E0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379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身份与角色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0519F0-1B63-464B-900A-3FB063DC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95550"/>
            <a:ext cx="3790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users  /  ai_characters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09642-B3F5-4C3E-91DD-25ECC349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114550"/>
            <a:ext cx="3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164C2D-6AB7-41F8-81F1-2478EF7C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52650"/>
            <a:ext cx="379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会话与消息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81507-DE36-429F-B30C-94C71FAC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95550"/>
            <a:ext cx="3790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conversations  /  messages  /  message_contents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5D9665-337F-4211-9424-9D9ADF42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3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20D1CF-EF9B-4418-B0A6-96FAEA3B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67150"/>
            <a:ext cx="379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AI 过程链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F46C2E-27F5-46E0-B22C-A99E3D5A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10050"/>
            <a:ext cx="3790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message_reasoning  /  tool_calls  /  tool_results  /  message_metadata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62CF27-E08A-4F63-A935-DB5767E9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829050"/>
            <a:ext cx="3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0E4565-0A2E-411C-B4AE-FF34A088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867150"/>
            <a:ext cx="379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交互与治理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C51896-28A7-4AE6-B282-CD960FF1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210050"/>
            <a:ext cx="3790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message_favorites  /  feedbacks  /  system_logs  /  audit_records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ED4231-802D-47AB-8CA8-D1298CFC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FCC25F-AE71-4883-8729-EFFEA72E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4565CC-9CE3-4A69-8D79-05FDBB47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9C5425-03FE-4854-AEBF-35F16647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02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1C09D6-6B83-428B-9207-06C7192E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24525"/>
            <a:ext cx="939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功能设计不仅包含页面操作，也覆盖权限隔离、状态约束与历史引用完整性等规则层设计，使前台使用逻辑与后台治理逻辑建立一致的数据边界。</a:t>
            </a:r>
          </a:p>
        </p:txBody>
      </p:sp>
    </p:spTree>
    <p:extLst>
      <p:ext uri="{BB962C8B-B14F-4D97-AF65-F5344CB8AC3E}">
        <p14:creationId xmlns:p14="http://schemas.microsoft.com/office/powerpoint/2010/main" val="33009983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5F320A-DE68-4DB3-BEA6-9DB53591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007AE-2A72-484F-A3BD-29D53EFA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E0456-2707-4BB0-AA01-E412F318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678A8-8E30-455D-8998-1B936460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F8A77-23F9-477D-B7AD-C3ECE8D4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CBC7A-CE05-4661-899B-701DACD4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672FD-6D25-452A-A87B-DC7C15A3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ER DIAGRAM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0DF0A-9CB7-4BC6-AF97-A3BCB4CE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76300"/>
            <a:ext cx="876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概念设计：ER 图展示核心实体及关系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E4C59-435E-428C-9C1A-1C007217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bcdd0d09af4fb5"/>
          <a:stretch xmlns:a="http://schemas.openxmlformats.org/drawingml/2006/main"/>
        </p:blipFill>
        <p:spPr>
          <a:xfrm xmlns:a="http://schemas.openxmlformats.org/drawingml/2006/main">
            <a:off x="3543300" y="1981200"/>
            <a:ext cx="5029200" cy="33528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A841BE-1334-43FF-B2F0-48D6BF6B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6BD16F-214D-41B6-B71D-B461ED48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CE6817-C827-4F60-8CB6-3305EA17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1C6045-9ADC-416A-AEEB-76429F06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02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3644D1-5E94-4A76-93B0-BF3071BC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24525"/>
            <a:ext cx="939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ER 图集中展示用户、角色、会话、消息及过程子表之间的主外键关系，用于说明数据库概念设计层的核心实体结构与关联方式。</a:t>
            </a:r>
          </a:p>
        </p:txBody>
      </p:sp>
    </p:spTree>
    <p:extLst>
      <p:ext uri="{BB962C8B-B14F-4D97-AF65-F5344CB8AC3E}">
        <p14:creationId xmlns:p14="http://schemas.microsoft.com/office/powerpoint/2010/main" val="210852858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3CBAB9-9892-4D18-AEA8-AD2748AD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05D10-0E96-4C6B-8E3D-7E5CC6AB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F171B-1EF4-4B7B-BDC6-89A89691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104A8-1D06-4B03-B822-AF3AFEB8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3A320-686C-442A-BB68-61C77D49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666ED4-E67E-42C7-BC80-912A64A6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9FE50-7B2B-48A7-B069-446200F0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DATABASE 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F2EED-EF98-478C-963E-C5E38F7E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76300"/>
            <a:ext cx="876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数据库核心创新在于把 AI 回复拆成正文、推理、工具、结果和元数据五类过程证据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4CE299-81A0-4FEC-A32F-214AB3D4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27EB0-9D83-411D-A39D-E63C3237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91250D-2BB8-46F5-8B8E-CB4F4A11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244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7c6e081ed4b7f"/>
          <a:stretch xmlns:a="http://schemas.openxmlformats.org/drawingml/2006/main"/>
        </p:blipFill>
        <p:spPr>
          <a:xfrm xmlns:a="http://schemas.openxmlformats.org/drawingml/2006/main">
            <a:off x="2341057" y="2190750"/>
            <a:ext cx="4538086" cy="28384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8FCC90-33BC-4E6D-A95B-1CBDFA57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47900"/>
            <a:ext cx="2362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过程链路图展示了消息从生成到沉淀的完整拆分方式。系统没有把回复压缩为单条文本，而是拆成正文、推理、工具、结果和元数据等多个可管理对象。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D957A5-C3B7-42DB-A4A4-0B0F47D2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38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9A5617-631C-4948-8802-807854A5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62350"/>
            <a:ext cx="2057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消息主干负责顺序和归属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E9F0D5-2A31-49C0-A43B-2530281F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76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D157B-648E-4C6E-A020-EFE7B144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00500"/>
            <a:ext cx="2057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过程信息独立建表，便于扩展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44538-F5A1-4F69-B51F-10B100F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14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C82C43-8ECD-42A3-9205-2534A537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38650"/>
            <a:ext cx="2057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过程表之间通过 message_id / tool_call_id 形成关联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795A92-873F-45D1-80E3-03BEAABA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F3BFD2-FC33-47C8-9296-8A025AFB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211671-A7EF-41E0-A38C-2350F111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9CF9DF-02B5-4918-BD9C-6193420B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02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FEB21C-6872-4B68-A41A-95729A33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24525"/>
            <a:ext cx="939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前台功能围绕角色浏览、会话操作、消息查看和反馈沉淀展开，形成用户侧主要使用路径，并通过统一状态管理保持身份信息和页面行为同步。</a:t>
            </a:r>
          </a:p>
        </p:txBody>
      </p:sp>
    </p:spTree>
    <p:extLst>
      <p:ext uri="{BB962C8B-B14F-4D97-AF65-F5344CB8AC3E}">
        <p14:creationId xmlns:p14="http://schemas.microsoft.com/office/powerpoint/2010/main" val="52164963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F92829-5FC1-405D-AA4C-5E93400E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A2303-8E19-43A5-950B-EB2FD23D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C6089-3DA9-425B-A25A-A73264D1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F8224-4147-4B0A-B7E7-09872527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19873-13BB-4FA4-A5F1-27C1B17D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2DB02-CBF9-4AD0-B6B1-FABD8D57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EA30E-CB3B-4C38-8893-370E150E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LOGICAL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62A45-B2B5-415C-88C1-224D8F6F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76300"/>
            <a:ext cx="876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逻辑设计上，主消息表保持稳定，变化快的过程细节通过子表扩展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DF0AF-588D-4F88-8275-CC3AC31D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17CEF-D849-405E-A360-DE4170E3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19300"/>
            <a:ext cx="988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2FA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33ABA6-1B53-480C-890F-B63A4754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8122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8BBA74-033E-4C9F-840E-D9C0976A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81225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关键字段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BB909-1EF4-42B4-AC05-ECE24B5B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812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设计作用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5347A2-BE77-4952-A7C9-89126D3A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9886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4D4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F45B31-538B-40C1-9B33-B7B3BE23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955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messages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7C59D-CB14-4181-B82A-077A6E1E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57475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conversation_id, parent_message_id, sender_type, role, sequence_number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1E8ED5-2B72-403B-AF4F-A9540FB1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574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承载会话顺序与父子关系，并作为其他过程表的主关联中心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3D3E9D-E08E-4D03-9887-F8CB3811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9886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7620">
            <a:solidFill>
              <a:srgbClr val="D4D4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94289A-91C6-4553-9F91-0923B17D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8612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message_contents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2298CA-F694-4DC4-808D-5FB50E07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48025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content_type, content, sort_order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DCDAAE-8F80-4058-9A37-8B9F4F24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480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支持多段正文排序展示，便于后续扩展富文本、多模态或附件内容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5BF1BB-61E9-4E88-8CD3-D59841A4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9886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4D4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64B757-878C-4201-BC36-F1189722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766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message_reasoning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0EC756-8B13-4C9D-9011-BFED9D8D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838575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reasoning_content, visibility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24E19E-38BD-4A88-B9AC-9F2CE6E7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385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控制过程信息可见范围，兼顾展示需要与敏感信息隔离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2DD23A-8EAA-4396-A1A6-CE876A6C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9886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7620">
            <a:solidFill>
              <a:srgbClr val="D4D4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123F05-00A8-443F-9A5B-2D899320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6722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tool_calls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D91CBC-FB73-4D42-8859-575EAEC4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29125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tool_name, arguments, status, called_at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5BB8E3-C756-4A3C-BADF-D11C7B5A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291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记录工具调用参数、调用时点与执行状态，支撑过程复盘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C08CEA-4793-4CCA-9104-345D4F61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76800"/>
            <a:ext cx="9886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4D4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B42BD1-3C3F-4EDB-A2B1-09ED04E1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577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message_metadata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DFBC2F-9C6A-445A-8A9B-7390CB2E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19675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model_name, tokens, duration_ms, finish_reason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0A42EB-5242-4B39-AF6D-05CE763B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0196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支撑成本统计、性能分析、模型对比与质量评估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9527AC-C21C-400E-8970-35DEF915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5B2939-D303-448E-A267-DAEA9785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213B81-1CD0-4EA8-AD87-7DBBD0AA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ADAB08-E358-40A5-B64C-C75E468E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02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796B9C-1230-4DD9-A485-769E4712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24525"/>
            <a:ext cx="939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收藏与反馈数据补充了消息使用后的行为证据，为质量分析、角色评估、内容优化和用户偏好观察提供可持续积累的基础数据来源。</a:t>
            </a:r>
          </a:p>
        </p:txBody>
      </p:sp>
    </p:spTree>
    <p:extLst>
      <p:ext uri="{BB962C8B-B14F-4D97-AF65-F5344CB8AC3E}">
        <p14:creationId xmlns:p14="http://schemas.microsoft.com/office/powerpoint/2010/main" val="96060357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BB7EF9-384E-4032-97CA-548668FA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25D2F-794E-4BFE-A075-E4F4B936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0623B-3690-413F-AB66-80C4BDD6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CAD66-3972-4E1E-B907-8046BAB1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3F982-E9D9-4C9D-92B0-B875B942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B19F0-5A54-4A50-8110-0363E9E0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16CA5-09ED-4855-A952-C801BEBE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SYSTEM IMPLEMENTATION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069B5-FF44-4090-888A-CC16D435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76300"/>
            <a:ext cx="876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系统实现不只包括前台页面，后台治理端也是完整平台的重要组成部分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D51CB-3993-4F68-A4B9-465BCD71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A8776E-5BEA-43CF-A2A4-95FEB075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1935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46A56D-61A9-4F77-A2C4-2317E86A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384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用户管理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99EB3-9CD5-447F-A185-FC3CB311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384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4DDED7-5758-4C1C-9CE2-7152A704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1935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FAC21C-1212-4CC9-B1FB-BA09BF2B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384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角色管理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B09599-FE58-4111-BCE3-CFEEAABB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384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DA9C9B-CA3F-4648-BC64-552B46C2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1935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10C2D-38D1-4A27-8E1A-2B6DFBD9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384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消息管理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DD66E0-6525-45E1-946E-F3D67803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384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8B6AF0-47A6-47D6-A91A-96CE7BF0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1935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6792C4-5798-4F09-8A8C-FF1CFB2B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384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反馈管理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CEB364-0E56-4AFC-94AA-B9C36522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384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C39C48-4BB1-4E1D-9148-2B2C7D45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0520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5F869E-1D13-4CD8-9565-316EEAD4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242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系统日志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FB85CA-95B5-4894-85ED-3E4C8D5F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2430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BD86D8-C455-4BC4-A366-ABADCF58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0520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452E55-966B-4DD5-AD06-CD9F5521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242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统计看板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25ED51-05DF-4458-9875-DEAE2C14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2430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4FC820-521B-40ED-B14F-3E5A5580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34000"/>
            <a:ext cx="923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后台界面以状态治理、反馈处理、日志追踪和统计分析为核心，覆盖平台运行后的主要管理动作与证据留存。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2250BA-A277-4DA4-A32A-98F65DD0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BC5726-0A6D-46E4-A6E9-A8BBA1D7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72BFC3-5013-4CA6-AD8F-0C463E27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318D75-68DE-4DEC-B8C3-41056136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02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B90493-571F-43BC-BE6B-EFD20344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24525"/>
            <a:ext cx="939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过程建模将一次 AI 回复拆成多个实体对象，使正文、推理、工具、结果和元数据可以分别存储和复用，从而支持过程追踪、结果复盘和能力扩展。</a:t>
            </a:r>
          </a:p>
        </p:txBody>
      </p:sp>
    </p:spTree>
    <p:extLst>
      <p:ext uri="{BB962C8B-B14F-4D97-AF65-F5344CB8AC3E}">
        <p14:creationId xmlns:p14="http://schemas.microsoft.com/office/powerpoint/2010/main" val="80052959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80F3B1-8738-4FBE-B135-8D922B43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6F8E7-6995-4511-9D21-84318D31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0B3BD-8531-4DAB-8F34-18E0AE25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2489B-73FB-4878-97E5-15A008ED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8F9BD-53B3-4888-967C-AEBE0B77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12D29-AF6B-4C9F-93A6-F21C1546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AC006-FEE8-410F-B49D-3E8D833A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SYSTEM IMPLEMENTATION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B0E383-0A78-4EAD-8A4A-C408ECAB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76300"/>
            <a:ext cx="876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日志与审核能力让系统实现层面具备可追踪、可治理、可扩展的基础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75497-29AB-4D99-8770-CA0B72AD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B177E5-EC7D-4536-965E-B939EDE1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6695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C48DB2-B14F-42D3-99D7-F5CE3F46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05050"/>
            <a:ext cx="826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system_logs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616073-DCD1-4FA0-8763-C8722C17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8267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记录 action、target_type、target_id、detail、ip_address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9719F7-146F-4D37-B5DE-0FA38608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0995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7B7EF2-36DE-413D-9A89-CB469825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826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audit_records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6110AE-CB64-4FA3-9DB7-AB52386F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8267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记录 admin_id、target、action 与 comment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F93BB0-F58F-4D5C-AF17-47101181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5295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A3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E35087-FC47-4DDC-98C1-A4AEC233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91050"/>
            <a:ext cx="826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status fields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EFC6DD-E1C9-4AD9-AE4A-FA93A081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33950"/>
            <a:ext cx="8267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users / characters / conversations / messages 均具备状态位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84AAD4-6FBE-45AC-BCF8-216F62D3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0F4055-9786-421C-ABED-3E1D2597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A7DD61-5CF9-49F7-B733-B0F3C7DC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392837-8F59-49C0-B4B8-747CE1E7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02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830CA9-6978-4E50-9E34-662D807C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24525"/>
            <a:ext cx="939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后台模块覆盖用户、角色、消息、反馈、日志和统计几个治理域，体现平台化系统的完整管理面，也补足系统在运行后的管理能力与审计能力。</a:t>
            </a:r>
          </a:p>
        </p:txBody>
      </p:sp>
    </p:spTree>
    <p:extLst>
      <p:ext uri="{BB962C8B-B14F-4D97-AF65-F5344CB8AC3E}">
        <p14:creationId xmlns:p14="http://schemas.microsoft.com/office/powerpoint/2010/main" val="2929036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1BD12E-C876-4D1C-BD2A-47FEEDBD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1C0DF-304F-454D-80E3-119676CC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8F761-1F46-45D5-8133-DB07DF32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8790F-9025-414E-86EB-18AB7FFD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02F43-5849-489D-854D-D0D65404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AE319-0E9E-41F1-8838-71F1C944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46217-47A5-4BC5-9141-2B628A8F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SYSTEM IMPLEMENTATION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07348-B6AB-4041-9AFD-A52869B8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76300"/>
            <a:ext cx="876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模型适配层与失败回退机制保证系统演示稳定，也为后续接入真实模型留出接口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6EF29-953C-4A9D-9EF3-DCDD27EC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9F8A13-2CC0-4235-817D-ECCBD5D9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62250"/>
            <a:ext cx="38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AF373-135E-4405-9F58-E1E721D7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003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请求上下文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EE05E0-C554-494D-AE3A-0A66403F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43250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1C4208-EF68-467D-9FF1-34EC1E55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09925"/>
            <a:ext cx="2476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3B17A-2139-46C1-9A38-55EAA2D5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143250"/>
            <a:ext cx="142875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7373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A6A285-8A63-440A-A55F-B73C1726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62250"/>
            <a:ext cx="38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F66727-A447-49D1-810D-A081F19A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003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角色提示词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D2729B-118A-4062-94FA-418E4720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43250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C7AEFF-F0BA-4181-82B2-C504AB40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09925"/>
            <a:ext cx="2476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44EF0E-A9CB-400F-8D65-0278F019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143250"/>
            <a:ext cx="142875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73737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F4CA68-F396-4A3F-83F8-5C58D3CC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62250"/>
            <a:ext cx="38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30FC70-F5C3-42FE-9898-5B439517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003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模型调用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5362FE-3221-4B46-B439-FD84B5BF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78E470-5CAF-4D84-98E0-9C705CBD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09925"/>
            <a:ext cx="2476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C5034F-ECBC-460E-A00A-902F8515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143250"/>
            <a:ext cx="142875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73737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0EB25B-26ED-40EF-862D-45DB7842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62250"/>
            <a:ext cx="38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A3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4D089D-7C0E-4C2B-849C-934407A1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003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失败回退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482832-FB8A-4FE7-AE11-AD42C9D0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43250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B5D98B-3AAE-4BA1-ABB1-9BA330AD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09925"/>
            <a:ext cx="2476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3E98B3-A2B3-43FA-AFA6-5AFB7081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143250"/>
            <a:ext cx="142875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73737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6A8C12-5C33-406F-8DD0-FF529AE8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62250"/>
            <a:ext cx="38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EEC151-69F2-478F-A9A3-98DDB5E0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003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过程映射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1FF16E-91A7-4A4F-8778-674A0591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43250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9B4269-D6E3-45CE-A954-3BFDEAC7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09925"/>
            <a:ext cx="2476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9BFB6F-95AA-430A-A4FA-598B6075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143250"/>
            <a:ext cx="142875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73737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91A98C-2954-4583-92F6-449D2A5C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62250"/>
            <a:ext cx="38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619920-C0A8-4018-BC23-CFFC8B50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003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消息入库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796E86-F76E-4986-9A9A-6F040417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43250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B33BEF-AAE6-4763-8ED9-29A209C2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0540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适配层负责把上下文、模型调用结果、工具调用信息和性能元数据映射到既有表结构中，保持系统接口与数据层的一致性。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6D8C93-76D2-4AB9-91A8-37FA9AA3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C10621-EBC4-4DD1-9811-E50D1436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0A13D8-236E-451C-B892-E5B9661E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02D5E3-4366-4A76-B190-0894AC76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02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C53A5D-4CAF-480C-922F-D0B57DCF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24525"/>
            <a:ext cx="939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日志与审核记录为状态变更、问题定位和平台留痕提供基础支撑，同时通过动作、目标、详情和时间等字段形成治理过程中的操作证据。</a:t>
            </a:r>
          </a:p>
        </p:txBody>
      </p:sp>
    </p:spTree>
    <p:extLst>
      <p:ext uri="{BB962C8B-B14F-4D97-AF65-F5344CB8AC3E}">
        <p14:creationId xmlns:p14="http://schemas.microsoft.com/office/powerpoint/2010/main" val="128208992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B36101-19E5-4501-B552-9E52DF87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D6B54D-AB0C-48BF-BFB0-09A708F6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D5CD6-7577-4274-B67A-824A5659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8AD07-0F13-4A91-8668-C995207F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6638E-BB83-4F0B-9146-822A4C4F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B7346-BB5F-4F87-9645-F9A6F1EC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D076A-146E-4D84-BA43-37540EAC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DEPLOYMENT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38031-670A-489C-B6CE-D95CF283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76300"/>
            <a:ext cx="876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运行环境通过 Docker Compose 完成编排，覆盖配置、数据、服务与文档四个交付面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F88429-B7EA-412E-B0E8-BEBE1115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F3DE02-6ED8-44FF-884A-E5453B91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38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1BF4B-5AE3-4A3E-9910-9E0172A6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336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配置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5D82A-EFFE-4133-BE20-75AF66D0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76550"/>
            <a:ext cx="1619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.env.example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默认变量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4B764C-B305-40AE-B8FF-859A1859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95550"/>
            <a:ext cx="38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EA1567-8782-462E-8A26-97A31528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336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数据库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1B22BD-9D69-4653-8B70-157898C5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76550"/>
            <a:ext cx="1619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schema.sql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seed.sql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utf8mb4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BF2551-EAC8-4A02-B7D4-4A546040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95550"/>
            <a:ext cx="38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AA0B9C-42D4-4599-9235-5CE7CD4C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336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后端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82384E-3F3A-403B-8BB2-59376C8C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76550"/>
            <a:ext cx="1619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FastAPI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SQLAlchemy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健康检查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3C3673-34A5-4681-9161-08E5DDEE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95550"/>
            <a:ext cx="38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CC16B5-1E7F-4CF0-BF72-1A54A9BC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336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文档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42D0F9-7DEF-4830-AF21-62E8A077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76550"/>
            <a:ext cx="1619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README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API docs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数据库设计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7A7088-0F34-4811-9E11-C4C1DC55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FD5A46-F2C0-4518-A55B-533027A5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DEAC1B-A886-4A57-831E-F218FC28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31920C-8928-4ADF-874C-6F520B4F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02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00AB59-1219-4EA9-BE13-4D67FADC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24525"/>
            <a:ext cx="939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适配层将模型返回内容映射到现有表结构中，使系统在模拟模式与真实模型模式下都能保持数据一致性，并为流式响应与工具调用预留接口位置。</a:t>
            </a:r>
          </a:p>
        </p:txBody>
      </p:sp>
    </p:spTree>
    <p:extLst>
      <p:ext uri="{BB962C8B-B14F-4D97-AF65-F5344CB8AC3E}">
        <p14:creationId xmlns:p14="http://schemas.microsoft.com/office/powerpoint/2010/main" val="163844130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DFABA7-3991-4BEF-92EC-FA2F8211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B0F0A-C465-42B4-A2B3-9B630B38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BA4AA-EC77-414A-A8C8-895B6F4D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5EB29-6F80-4F99-ABF7-198997C5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6A8C5-700C-4C07-B2A0-95F5D355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C903A-FF3E-451B-8265-708E279B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9209A-1A82-4188-8E14-6DCB3B99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SYSTEM VERIFICATION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3B0639-8FB5-4973-8CD3-1D67996C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76300"/>
            <a:ext cx="876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系统实现已经从“能构建”推进到“主要业务链路可运行”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B539A-619F-4D8E-940A-707C4864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36FB80-D5C7-40F4-A048-8A2769B7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B0A334-823F-4A02-8405-35363D30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09b60723f4633"/>
          <a:stretch xmlns:a="http://schemas.openxmlformats.org/drawingml/2006/main"/>
        </p:blipFill>
        <p:spPr>
          <a:xfrm xmlns:a="http://schemas.openxmlformats.org/drawingml/2006/main">
            <a:off x="2078294" y="2190750"/>
            <a:ext cx="4873113" cy="30480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359306-7863-417F-970C-9538A532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479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验证页将数据库、接口、页面、日志和运行记录放在同一组证据中展示，用于说明系统已经形成可构建、可访问、可验证的工程闭环。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643439-B949-49BC-B8E0-CBB32368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90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后端导入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FA7B54-7431-4509-9B6D-36CE1519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90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路由注册与 ORM 模型可加载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2D059D-E06B-4160-9431-8C36213B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481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前端构建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1EC6DD-FB6D-4433-859F-4DC8D334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481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Vue 3 + TypeScript + Vite production build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8C8909-5FA6-4F0D-8C41-E04DCB69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053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API 冒烟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5D7AD9-A98D-4EE1-90A0-F1810585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053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健康检查、鉴权、消息、收藏、反馈路径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A989D-B5AE-40DF-B322-BBB0AF0A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625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数据核验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050999-085C-4011-99A4-FB043B67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625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中文 seed 数据与 utf8mb4 编码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D03B2F-9426-47AF-9AD4-DD3191F0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B6BF7E-4C75-44AF-A3E6-A6EDA66C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7AFC29-E5EF-4976-840F-51536F22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70C804-B42C-4FC3-BCAB-98DB891C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02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38BF94-5DE3-456E-BBFD-D1EF284B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24525"/>
            <a:ext cx="939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部署结构覆盖配置文件、数据库脚本、服务实例与文档资源，体现环境初始化、数据准备、服务启动与重复运行能力，保证系统可复现与可交付。</a:t>
            </a:r>
          </a:p>
        </p:txBody>
      </p:sp>
    </p:spTree>
    <p:extLst>
      <p:ext uri="{BB962C8B-B14F-4D97-AF65-F5344CB8AC3E}">
        <p14:creationId xmlns:p14="http://schemas.microsoft.com/office/powerpoint/2010/main" val="81837804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5D5A1E-78A0-4840-B1CC-90904315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B20EE-7C19-4335-BBF0-F074EE78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D1FDB-C2BF-49EC-A9BD-7426B63C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CD4C3-E827-4A5F-90E3-889544B4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229EC-4656-422B-8343-EC1DE4E9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3BBCA-7162-4B51-8D3C-FE4931F8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0A017-7DD6-44D2-A879-DF64C019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IMPLEMENTATION DETAIL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B711A-D593-400C-BC17-AD59349F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76300"/>
            <a:ext cx="876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在系统实现过程中，关键问题集中在路由、编码、权限和数据一致性修正上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85CD0-0E4A-48BB-B223-72B7E3D5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6832F4-C0EA-4FA5-B75C-E92CAD7D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DE509-68F3-4291-8EF8-A43F3141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379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路由前缀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52EE3-E31D-4D6D-8BE3-14503217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33650"/>
            <a:ext cx="3790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messages / users / favorites / feedbacks 统一为 /api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D9262A-37DD-4E07-9A8B-EAB272A9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526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E33F97-DFE6-4748-BB0B-B07FE709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90750"/>
            <a:ext cx="379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中文编码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C1A412-23C1-4B68-8A14-3CD9F3BC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33650"/>
            <a:ext cx="3790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MySQL、SQLAlchemy、seed 统一 utf8mb4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313043-D929-4EE6-BA88-B0492AA3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6FEF48-9A7E-48A5-A041-19350211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19450"/>
            <a:ext cx="379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收藏状态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21CC70-BD88-4862-BEAB-7A571882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3790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消息列表返回 is_favorited，切换页面后保持状态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714882-9DBF-4423-90C3-411222DF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813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E4BCAE-36D4-41CD-81B8-63F65E58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19450"/>
            <a:ext cx="379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权限隔离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4EA498-ECA8-4A54-9ADD-48AFDD51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62350"/>
            <a:ext cx="3790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用户不能读取、收藏或反馈别人的消息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1F09A6-CDD3-455B-94E2-B01B2ECA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0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93BB14-0EC8-441C-B679-357EF483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48150"/>
            <a:ext cx="379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数据保留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AB52BE-059E-4687-AD66-677DCB06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3790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角色删除改为禁用，保护历史会话引用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C46FB5-8695-4F4B-8C45-7C1D3B09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10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CC950B-FF1A-4C0A-AAB6-2198372E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48150"/>
            <a:ext cx="379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配置健壮性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2E0672-59C0-4077-A73F-3DD1DF99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91050"/>
            <a:ext cx="3790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DEBUG=release 可解析，模型失败可回退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8FDF26-59DC-4C5A-B67E-F639C6EE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387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6E8EA2-F28A-4AB1-9F57-016CDD92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76850"/>
            <a:ext cx="379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索引与约束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83864A-5EAD-408E-92C0-F0EEC631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19750"/>
            <a:ext cx="3790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主外键关联、状态字段与排序字段共同保证查询效率与结构稳定性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3AAC9C-EC80-4465-9F94-74FE29BE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D64F16-1ABD-4FAF-A509-2E532BD8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B83FF7-7B3E-4753-82B1-F90E9E01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78F56A-B780-40B1-9E7A-6CDEDB98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02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2186F2-4D28-4DEB-9BFB-8A2FC70D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24525"/>
            <a:ext cx="939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运行验证从构建、接口、页面与数据几个维度展示系统状态，把数据库、接口调用、页面结构和日志记录放在同一组证据中形成实现闭环。</a:t>
            </a:r>
          </a:p>
        </p:txBody>
      </p:sp>
    </p:spTree>
    <p:extLst>
      <p:ext uri="{BB962C8B-B14F-4D97-AF65-F5344CB8AC3E}">
        <p14:creationId xmlns:p14="http://schemas.microsoft.com/office/powerpoint/2010/main" val="176188990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F7BF3F-7EC7-4032-ACA1-EEAFE85C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1D295-5D4E-47C4-9234-F8AEF80D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E58E1-FFC7-42DD-A747-9B62566C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ABCD2-2C3B-4C0F-AD09-95D9DC93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E4268-A6DE-4A7A-A70E-4011AE43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E1D54-2B66-435D-A15F-9E767692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A5070-BF96-4710-87D7-059DD6CA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DEMO ROUTE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63B00-FEB1-4B75-BE33-272ADCFC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76300"/>
            <a:ext cx="876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系统展示路径覆盖用户使用链路与后台治理链路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532208-5D67-4285-803B-7FBE379B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F85CD-5F28-472E-B01A-07D1F5D6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888201-87E0-4B67-BA4B-7DF7462B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登录 user1 / admin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1F7275-5534-46A0-A6C8-3FBBDC84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38450"/>
            <a:ext cx="1123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5914FA-F5B4-4A56-9562-99001603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193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F20850-30F6-4552-89D2-F3468517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1935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查看角色与会话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89B45F-6508-413C-A92D-6F8F6D52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838450"/>
            <a:ext cx="1123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ABB366-4F89-4F50-ADEB-DE290ADC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193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82F051-A37F-462C-93E6-22EDAD5B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进入聊天详情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E7E329-FB4B-4512-9D0E-9F76D3F2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8450"/>
            <a:ext cx="1123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9C3C98-CB66-4002-9202-E0964A9E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193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17FABE-A0C2-407E-81DA-544EB5EF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1935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展开过程数据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F36756-15B9-4A43-95F3-949DC81E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38450"/>
            <a:ext cx="1123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3D69EE-0BCC-4CA7-A1A8-CEBEADB8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603B09-0017-4F59-9279-AC2F0FF2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005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收藏并返回验证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B333B2-BB48-480C-91E9-5E00F7BE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19600"/>
            <a:ext cx="1123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6C1B8C-3A8B-4B73-B357-60C0A3B1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005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43CC54-115E-4FBE-B35C-A49F9538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0005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提交反馈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6C444C-AC9D-4585-B4C4-31D129BA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419600"/>
            <a:ext cx="1123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895421-020D-48B8-90B7-704F4EE6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005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C34933-461B-4D8D-A975-28D95CC0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进入管理后台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4BC14C-B750-4CC4-A45F-AEE92D63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9600"/>
            <a:ext cx="1123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FDED7B-6FAC-41F5-91F7-A054827F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429AA2-D02E-4FBD-BE99-BDE1B58F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005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展示日志与统计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762B47-9833-4623-902A-154E43AD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19600"/>
            <a:ext cx="1123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9B19DA-3AF8-4C72-8D15-0EB28C4A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CB80EC-29AF-4679-9913-5C2A0BA6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317F83-2245-47E5-A72F-C9B9D73D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BBF615-78AC-4395-859D-616540D8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02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801BB5-3F86-4B25-A48A-2F17821B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24525"/>
            <a:ext cx="939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表数量、接口模块、前后台页面与过程维度共同构成项目工作量，也反映出系统在数据层、接口层、页面层与治理层上的实现范围与复杂度。</a:t>
            </a:r>
          </a:p>
        </p:txBody>
      </p:sp>
    </p:spTree>
    <p:extLst>
      <p:ext uri="{BB962C8B-B14F-4D97-AF65-F5344CB8AC3E}">
        <p14:creationId xmlns:p14="http://schemas.microsoft.com/office/powerpoint/2010/main" val="1073177035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CA5EAC-79AC-48F9-BC01-46569682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889C0-1401-47FB-804F-316EA17E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61173-DEEF-46B7-87AC-3453B5A8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86E1B-A9AB-4452-98FA-A17325D5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12FE0-85C2-45AA-B015-7CEB2C67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85954-1A26-4437-B554-924A9259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FE790-983F-4FED-A3FF-31914AC1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WORK 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52E32-9DEA-4197-AAC8-95B5C374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76300"/>
            <a:ext cx="876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从表结构、接口模块到前后台页面，项目规模已具备完整课程设计的工作量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05D4D-3B97-4984-8616-F327A893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2B202-A56B-4324-8760-15638AD4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1581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1109D4-D652-4994-82DC-E372EB2A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4325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A22E38-65A5-471B-945C-BD220710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0045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ORM / DDL 核心表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30581A-E927-4C67-B9F3-5A0E2CDC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76550"/>
            <a:ext cx="1581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EC9EA-00BA-4DC2-AE44-5FB6C299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4325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10+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39A65-4B33-43B5-88ED-678201C8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0045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后端路由模块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3178F8-86DC-4DDF-A4FE-4AFD49E0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76550"/>
            <a:ext cx="1581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F953CC-4866-446D-A48E-02102C64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4325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18+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B4FAFC-B380-48F2-ADF5-D55B2664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0045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前端视图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3F1860-E1F6-47D4-8236-7D37B37F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76550"/>
            <a:ext cx="1581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CCDD36-0585-4353-8F95-CD18BA9E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4325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6C091B-DAF1-46A8-A177-61B4A7FB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0045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后台治理页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C220CE-DAC8-4377-8C40-AEDEF579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76550"/>
            <a:ext cx="1581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E1657F-444E-4306-A985-648E8D8D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4325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CD5514-9D44-47F5-A7BD-FDE00E49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0045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AI 过程数据维度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A2C685-73E2-4148-96F6-8B7A55EC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5763A4-38F8-4CCE-8A5B-D4DC7EDF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61C438-1ACB-450F-8BE2-18FD7360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CAFDCE-D550-4164-833D-1050A0C1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02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2E8E83-B5A1-4E1B-B721-D564F050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24525"/>
            <a:ext cx="939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关键修正集中在路由规范、编码统一、权限隔离、收藏状态保持、历史数据保护以及索引约束等工程细节上，体现系统联调和修正过程的完整性。</a:t>
            </a:r>
          </a:p>
        </p:txBody>
      </p:sp>
    </p:spTree>
    <p:extLst>
      <p:ext uri="{BB962C8B-B14F-4D97-AF65-F5344CB8AC3E}">
        <p14:creationId xmlns:p14="http://schemas.microsoft.com/office/powerpoint/2010/main" val="48815272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6B1064-9A4B-4D94-A77A-19765697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A625C-6911-41F4-937B-F7B11F90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2E991-CF01-490F-ABBA-B1DF72FF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21FE48-42BD-4373-9C3D-0B683810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3AB9A-7D58-4FC4-BBEB-EE498608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6587C-2E0F-4D27-83FD-9D1DE52C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2285C-A3D3-4EA8-85E6-C593CE46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REFLECTION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AE024-3955-4B7A-B37A-F0305267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76300"/>
            <a:ext cx="876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本项目的收获与反思主要体现在权限设计、数据治理和可扩展性意识上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40B8A-2A3D-49A0-BFAE-459A2342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9190C-25E9-4068-A71B-829D519D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098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推理敏感性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D55B7E-F702-4D26-ABB1-DBD5245E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628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visibility 字段控制 reasoning 暴露范围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42E0DA-3BB9-42C1-A28C-A1332AD9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908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2E9A0-AAF9-44BB-BC2A-8762B3DE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工具结果可信度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36096E-8A22-4DEA-A80F-92DA8E14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628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tool_results 保留 is_error 与原始 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E420B1-8E09-48FD-A487-198A887A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575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5BA416-8CA8-4807-BB7D-7F011ACD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43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历史数据破坏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A538B0-ECE0-4F4D-91D1-80A6FDF1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43300"/>
            <a:ext cx="628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角色禁用替代物理删除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01D6DB-7881-47A2-8F8B-BF4EA3D4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243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E2C160-3AFB-4BB0-9602-D7A92FB8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0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3A3A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A3A3A0"/>
                </a:solidFill>
                <a:latin typeface="PingFang SC"/>
                <a:ea typeface="PingFang SC"/>
                <a:cs typeface="PingFang SC"/>
              </a:rPr>
              <a:t>模型接入不稳定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55A6A8-5331-4EC7-AD7C-9F955608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10050"/>
            <a:ext cx="628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DeepSeek 调用失败回退模拟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F1E305-5EC1-4AD6-822A-A772D808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910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AB13AB-CA60-4914-BD94-D6F1A801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768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中文数据质量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096433-61E2-4AA8-9690-C8101E5A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76800"/>
            <a:ext cx="628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数据库连接和 seed 均使用 utf8mb4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FAD3E0-34DF-48FB-9748-02DFFE2D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578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D6504F-E0EA-45D4-9602-52193298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A70532-7213-4A72-AC9C-FFECB25A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EB621A-7777-4B38-8389-73F485A2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C1DAA6-B12C-4611-828A-37505A32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02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234B48-D2C1-46C2-B5BB-4E709EB2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24525"/>
            <a:ext cx="939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展示路径按用户链路与管理链路展开，覆盖前台使用动作、后台治理动作和过程数据查看入口，使系统功能结构与页面组织之间形成清晰映射。</a:t>
            </a:r>
          </a:p>
        </p:txBody>
      </p:sp>
    </p:spTree>
    <p:extLst>
      <p:ext uri="{BB962C8B-B14F-4D97-AF65-F5344CB8AC3E}">
        <p14:creationId xmlns:p14="http://schemas.microsoft.com/office/powerpoint/2010/main" val="80514127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EF1662-18F2-41E3-A25A-FAF707A3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0A4FB-F44F-4493-B499-3EF27651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B54F06-75BB-47DC-B9E6-F10EAD0C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0E9EB-4A7B-45DC-B3C2-EFF23EFA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5D91C-42E1-4839-B7A6-718C865C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266AB-AB81-4660-AFCD-2B3AC8A4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1A8831-71D0-45B3-990C-26DF7988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REFLECTION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89E18-9C35-413C-ADCF-E201FF83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76300"/>
            <a:ext cx="876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系统后续扩展方向集中在模型接入、分析能力、治理策略与自动化测试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F59A93-F0B2-447E-A8FD-AB3059DC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5F231-A03F-4AB2-B8B9-DAD87BA1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381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EC769E-A6E5-45E1-AF1E-A29A8F74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717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真实模型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D6DBF-E3FA-4081-94C9-818BA522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14650"/>
            <a:ext cx="1638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DeepSeek / OpenAI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streaming / tool calls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36DBD-E41A-4ABB-8110-736BBBFD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0383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929916-9258-4799-BD01-E2D85368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33650"/>
            <a:ext cx="381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96B6C-B4B3-4314-B983-8F4FAEB5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717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分析看板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147C65-D835-4A44-A8B9-57403FB8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14650"/>
            <a:ext cx="1638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token 成本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延迟趋势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角色质量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699B39-F94F-4439-B575-DD128AE8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383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7A112C-F8D6-463E-950E-4C52BE13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33650"/>
            <a:ext cx="381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B72709-3633-434A-99FC-264D72DF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治理策略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223ABC-B78D-40CB-B765-3F0A86E4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14650"/>
            <a:ext cx="1638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审核流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敏感内容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可见性策略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BB52F7-6DBA-448F-9BA8-3E8A4B34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383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33A904-3F59-46EB-9CD5-424C4722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33650"/>
            <a:ext cx="381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D3B8C3-51E0-441E-B9EE-04717BB5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717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自动化测试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CD83F4-2AF7-40BC-8C1D-46854024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14650"/>
            <a:ext cx="1638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API 回归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权限用例</a:t>
            </a:r>
          </a:p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前端 E2E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F0C86E-9337-4910-9405-497F9C7B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0383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42F87B-36A8-4C2E-98B4-BC5937CD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B887CC-1106-44EB-B6DA-7BCCF933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247137-F5FB-4A97-8AFD-EAAE7818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D87511-9D1D-41BB-9436-CE56DE44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02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99F874-F771-48A4-9299-53B52804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24525"/>
            <a:ext cx="939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反思部分集中在权限意识、数据治理、过程建模和扩展能力几个方面，体现系统设计不只关注当前功能，也关注长期维护与后续演进空间。</a:t>
            </a:r>
          </a:p>
        </p:txBody>
      </p:sp>
    </p:spTree>
    <p:extLst>
      <p:ext uri="{BB962C8B-B14F-4D97-AF65-F5344CB8AC3E}">
        <p14:creationId xmlns:p14="http://schemas.microsoft.com/office/powerpoint/2010/main" val="1363608006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664F70-7B36-423B-9A87-8321425E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DB62F-28C9-4207-8B1E-CD704166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B71187-EF35-409E-8F5F-62F8C1B2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EAA0D-4412-4CFA-9B06-1D70D2AC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895A2-664E-42CE-BD7B-009C7844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90906-BFAC-485E-B0C1-65BBC1B1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266C5-8CF6-4A54-AE9C-2F7FBEEA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762330-C142-41C9-9B63-F556CE6A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76300"/>
            <a:ext cx="876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本项目完成了从需求分析到数据库设计、系统实现与运行验证的完整闭环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A4CC96-BFCF-49EC-9129-0F4893F3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EF03C8-5E33-41F1-A05C-9C636948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00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22AB0-3D7D-4285-BD23-DA527946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24100"/>
            <a:ext cx="838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完整链路：问题、回复、推理、工具、结果、元数据都可保存。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9A1F5-7D89-4429-BFCF-60BE6066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67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3FE586-840E-4257-86B8-05A13E75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90850"/>
            <a:ext cx="838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工程闭环：前端、后端、数据库、Docker 与文档形成可运行系统。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511B9E-EFF5-4FE1-B732-C2BE51EE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33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7FAF2-3622-4CDF-B99C-5762C78B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838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治理闭环：用户行为、反馈、日志、审核与统计都进入后台。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21A42F-9EC0-4F3E-BC94-F442A189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00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976E4E-51FE-4517-8457-9BECEF31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24350"/>
            <a:ext cx="838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扩展闭环：真实模型、流式响应、质量分析可沿当前模型继续实现。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7F2833-FAE5-48C2-A1DC-F3CEAC2B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FF1D3D-40C8-4138-936F-2794750D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37373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02EEAD-7FDD-462B-B005-356A74E2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67AD5C-C5E6-4C17-B7E0-8525067B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02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5035DC-D563-4FA9-90CB-011EFECC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24525"/>
            <a:ext cx="939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系统已经形成从需求、功能、数据、实现到验证的完整闭环，各层设计之间具备稳定映射关系，也为后续功能扩展和性能优化保留了清晰空间。</a:t>
            </a:r>
          </a:p>
        </p:txBody>
      </p:sp>
    </p:spTree>
    <p:extLst>
      <p:ext uri="{BB962C8B-B14F-4D97-AF65-F5344CB8AC3E}">
        <p14:creationId xmlns:p14="http://schemas.microsoft.com/office/powerpoint/2010/main" val="73729041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67A8D7-7843-4297-B482-36421653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4A375-1F47-46E9-AA7B-DF8ADC1B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FAC4C-B2FC-47B2-BFDE-38588CCB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112F4-93E4-499A-8AFE-ECF5488F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E14C8-B302-4862-A2F3-E0798571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C42EF-608D-4953-BB37-64993C4D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485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>
              <a:alpha val="20000"/>
            </a:srgbClr>
          </a:solidFill>
          <a:ln xmlns:a="http://schemas.openxmlformats.org/drawingml/2006/main" w="11430">
            <a:solidFill>
              <a:srgbClr val="002FA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B851F-5F25-48A7-A2B2-857AC0BB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81050"/>
            <a:ext cx="895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THANK YOU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32D4C-CB14-4F4F-BAD2-FD2B0B84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4000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55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谢谢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1F71E-6E80-44AF-A72D-2C1EA374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590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AIChatProcessManager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C3B27E-738F-4F71-90D5-A8AA3725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感谢观看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9A95F-ED50-4304-BA6F-C72E8E17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9585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Vue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F15C7A-69DD-4485-B6DB-F2F14470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5305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Frontend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4BBB2F-D961-429F-9D6E-46A8DFF7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89585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FastAPI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3436D2-EF40-48E5-BE96-6EF5C68A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35305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Backend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A37770-6A9C-453D-AF40-ECD4B71E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9585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MySQL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AE1E5E-64CA-4881-A058-3F61A136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5305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Database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61C30B-61C0-4B50-A1F9-D7247175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9585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2FA7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02FA7"/>
                </a:solidFill>
                <a:latin typeface="PingFang SC"/>
                <a:ea typeface="PingFang SC"/>
                <a:cs typeface="PingFang SC"/>
              </a:rPr>
              <a:t>Docker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A1D3BE-62D6-415B-8AB3-6AA708AE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5305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Runtime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5902A4-20EA-44EA-9827-A80E1CE2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9D4591-AA11-4163-86E5-EFBCC071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02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F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F213B4-8BF7-419D-B837-CAAF04A1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24525"/>
            <a:ext cx="939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3333"/>
                </a:solidFill>
                <a:latin typeface="PingFang SC"/>
                <a:ea typeface="PingFang SC"/>
                <a:cs typeface="PingFang SC"/>
              </a:rPr>
              <a:t>结尾页用于收束整套展示内容，回到系统名称、技术栈和整体完成度，形成简洁稳定的结束画面并保持全稿视觉风格的一致性。</a:t>
            </a:r>
          </a:p>
        </p:txBody>
      </p:sp>
    </p:spTree>
    <p:extLst>
      <p:ext uri="{BB962C8B-B14F-4D97-AF65-F5344CB8AC3E}">
        <p14:creationId xmlns:p14="http://schemas.microsoft.com/office/powerpoint/2010/main" val="15457111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2026-06-09T09:17:16.8990000Z</dcterms:created>
  <dcterms:modified xsi:type="dcterms:W3CDTF">2026-06-09T09:17:16.8990000Z</dcterms:modified>
</coreProperties>
</file>