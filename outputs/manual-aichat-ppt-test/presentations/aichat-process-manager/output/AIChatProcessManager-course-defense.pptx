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8c26a24c6194786" /><Relationship Type="http://schemas.openxmlformats.org/officeDocument/2006/relationships/extended-properties" Target="/docProps/app.xml" Id="R86e6b2dffec04ac6" /><Relationship Type="http://schemas.openxmlformats.org/officeDocument/2006/relationships/officeDocument" Target="/ppt/presentation.xml" Id="Rcb27dd8340b2414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be5a5db78134add"/>
  </p:sldMasterIdLst>
  <p:notesMasterIdLst>
    <p:notesMasterId xmlns:r="http://schemas.openxmlformats.org/officeDocument/2006/relationships" r:id="R8b98e2ad2c784152"/>
  </p:notesMasterIdLst>
  <p:sldIdLst>
    <p:sldId xmlns:r="http://schemas.openxmlformats.org/officeDocument/2006/relationships" id="256" r:id="R26b399d9186340e9"/>
    <p:sldId xmlns:r="http://schemas.openxmlformats.org/officeDocument/2006/relationships" id="257" r:id="Rb3b160361b37495c"/>
    <p:sldId xmlns:r="http://schemas.openxmlformats.org/officeDocument/2006/relationships" id="258" r:id="Rea5fc21614b24624"/>
    <p:sldId xmlns:r="http://schemas.openxmlformats.org/officeDocument/2006/relationships" id="259" r:id="Ra6da6f6b6c7d449c"/>
    <p:sldId xmlns:r="http://schemas.openxmlformats.org/officeDocument/2006/relationships" id="260" r:id="Rc75e7049ee4a4d18"/>
    <p:sldId xmlns:r="http://schemas.openxmlformats.org/officeDocument/2006/relationships" id="261" r:id="R74cf25a5fadf40f3"/>
    <p:sldId xmlns:r="http://schemas.openxmlformats.org/officeDocument/2006/relationships" id="262" r:id="Rf389d854987d43f7"/>
    <p:sldId xmlns:r="http://schemas.openxmlformats.org/officeDocument/2006/relationships" id="263" r:id="R061be8bfe46d4e95"/>
    <p:sldId xmlns:r="http://schemas.openxmlformats.org/officeDocument/2006/relationships" id="264" r:id="Rde1a53b2676448a1"/>
    <p:sldId xmlns:r="http://schemas.openxmlformats.org/officeDocument/2006/relationships" id="265" r:id="R3615e69f0d104003"/>
    <p:sldId xmlns:r="http://schemas.openxmlformats.org/officeDocument/2006/relationships" id="266" r:id="R91c6accf4e9c465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5132a56abeb4d95" /><Relationship Type="http://schemas.openxmlformats.org/officeDocument/2006/relationships/slideMaster" Target="/ppt/slideMasters/slideMaster1.xml" Id="R2be5a5db78134add" /><Relationship Type="http://schemas.openxmlformats.org/officeDocument/2006/relationships/notesMaster" Target="/ppt/notesMasters/notesMaster1.xml" Id="R8b98e2ad2c784152" /><Relationship Type="http://schemas.openxmlformats.org/officeDocument/2006/relationships/presProps" Target="/ppt/presProps.xml" Id="R4a0f8e265fff416f" /><Relationship Type="http://schemas.openxmlformats.org/officeDocument/2006/relationships/viewProps" Target="/ppt/viewProps.xml" Id="Re32832178da14c5b" /><Relationship Type="http://schemas.openxmlformats.org/officeDocument/2006/relationships/tableStyles" Target="/ppt/tableStyles.xml" Id="Rfffdc3948fa64bf8" /><Relationship Type="http://schemas.openxmlformats.org/officeDocument/2006/relationships/slide" Target="/ppt/slides/slide1.xml" Id="R26b399d9186340e9" /><Relationship Type="http://schemas.openxmlformats.org/officeDocument/2006/relationships/slide" Target="/ppt/slides/slide2.xml" Id="Rb3b160361b37495c" /><Relationship Type="http://schemas.openxmlformats.org/officeDocument/2006/relationships/slide" Target="/ppt/slides/slide3.xml" Id="Rea5fc21614b24624" /><Relationship Type="http://schemas.openxmlformats.org/officeDocument/2006/relationships/slide" Target="/ppt/slides/slide4.xml" Id="Ra6da6f6b6c7d449c" /><Relationship Type="http://schemas.openxmlformats.org/officeDocument/2006/relationships/slide" Target="/ppt/slides/slide5.xml" Id="Rc75e7049ee4a4d18" /><Relationship Type="http://schemas.openxmlformats.org/officeDocument/2006/relationships/slide" Target="/ppt/slides/slide6.xml" Id="R74cf25a5fadf40f3" /><Relationship Type="http://schemas.openxmlformats.org/officeDocument/2006/relationships/slide" Target="/ppt/slides/slide7.xml" Id="Rf389d854987d43f7" /><Relationship Type="http://schemas.openxmlformats.org/officeDocument/2006/relationships/slide" Target="/ppt/slides/slide8.xml" Id="R061be8bfe46d4e95" /><Relationship Type="http://schemas.openxmlformats.org/officeDocument/2006/relationships/slide" Target="/ppt/slides/slide9.xml" Id="Rde1a53b2676448a1" /><Relationship Type="http://schemas.openxmlformats.org/officeDocument/2006/relationships/slide" Target="/ppt/slides/slide10.xml" Id="R3615e69f0d104003" /><Relationship Type="http://schemas.openxmlformats.org/officeDocument/2006/relationships/slide" Target="/ppt/slides/slide11.xml" Id="R91c6accf4e9c46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3692cfadd9c499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74f0f212bf946ea" /><Relationship Type="http://schemas.openxmlformats.org/officeDocument/2006/relationships/notesMaster" Target="/ppt/notesMasters/notesMaster1.xml" Id="Rfa7d1bf937d74a0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1b27539fba34fe8" /><Relationship Type="http://schemas.openxmlformats.org/officeDocument/2006/relationships/notesMaster" Target="/ppt/notesMasters/notesMaster1.xml" Id="R3160b06f0afc4c9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4f8b926f4941e4" /><Relationship Type="http://schemas.openxmlformats.org/officeDocument/2006/relationships/notesMaster" Target="/ppt/notesMasters/notesMaster1.xml" Id="R163f939c753a4a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ce7319fa3b24826" /><Relationship Type="http://schemas.openxmlformats.org/officeDocument/2006/relationships/notesMaster" Target="/ppt/notesMasters/notesMaster1.xml" Id="Redb414145cc2415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188779dec0467a" /><Relationship Type="http://schemas.openxmlformats.org/officeDocument/2006/relationships/notesMaster" Target="/ppt/notesMasters/notesMaster1.xml" Id="R70b4989be53b42b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6be57ecdf0944f6" /><Relationship Type="http://schemas.openxmlformats.org/officeDocument/2006/relationships/notesMaster" Target="/ppt/notesMasters/notesMaster1.xml" Id="Rd199b717d6ca439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1c6f78dc78b46f1" /><Relationship Type="http://schemas.openxmlformats.org/officeDocument/2006/relationships/notesMaster" Target="/ppt/notesMasters/notesMaster1.xml" Id="Rbb2a2937379d444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89158e01c784893" /><Relationship Type="http://schemas.openxmlformats.org/officeDocument/2006/relationships/notesMaster" Target="/ppt/notesMasters/notesMaster1.xml" Id="Re84fdd49a0e2431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63ba998e2cd4efa" /><Relationship Type="http://schemas.openxmlformats.org/officeDocument/2006/relationships/notesMaster" Target="/ppt/notesMasters/notesMaster1.xml" Id="Rd010186e221641b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22c10a00e7f4ecc" /><Relationship Type="http://schemas.openxmlformats.org/officeDocument/2006/relationships/notesMaster" Target="/ppt/notesMasters/notesMaster1.xml" Id="R2b54036dbebe455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eb07c2b5205418b" /><Relationship Type="http://schemas.openxmlformats.org/officeDocument/2006/relationships/notesMaster" Target="/ppt/notesMasters/notesMaster1.xml" Id="Rc3f4b7e1e10e4d6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2b6fa7c3cd404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b920e7ddc8441e" /><Relationship Type="http://schemas.openxmlformats.org/officeDocument/2006/relationships/slideLayout" Target="/ppt/slideLayouts/slideLayout1.xml" Id="Ra977529c016c4f9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77529c016c4f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29eac2530742b3" /><Relationship Type="http://schemas.openxmlformats.org/officeDocument/2006/relationships/notesSlide" Target="/ppt/notesSlides/notesSlide1.xml" Id="R50c3a8815147480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77e0d7fcc94e86" /><Relationship Type="http://schemas.openxmlformats.org/officeDocument/2006/relationships/notesSlide" Target="/ppt/notesSlides/notesSlide2.xml" Id="Rf0bdb699bc694e4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97e5da1ee04578" /><Relationship Type="http://schemas.openxmlformats.org/officeDocument/2006/relationships/notesSlide" Target="/ppt/notesSlides/notesSlide3.xml" Id="Rf408e461a49f43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0975f360e941e1" /><Relationship Type="http://schemas.openxmlformats.org/officeDocument/2006/relationships/notesSlide" Target="/ppt/notesSlides/notesSlide4.xml" Id="Rd236e6a94228438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e1015c5c5d4b6c" /><Relationship Type="http://schemas.openxmlformats.org/officeDocument/2006/relationships/notesSlide" Target="/ppt/notesSlides/notesSlide5.xml" Id="R556fd4df6d154f1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09e01d64cc49f9" /><Relationship Type="http://schemas.openxmlformats.org/officeDocument/2006/relationships/notesSlide" Target="/ppt/notesSlides/notesSlide6.xml" Id="Rf53f7477571e449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447336915643c6" /><Relationship Type="http://schemas.openxmlformats.org/officeDocument/2006/relationships/notesSlide" Target="/ppt/notesSlides/notesSlide7.xml" Id="R24bc491e7ea04ea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31913476ce4c26" /><Relationship Type="http://schemas.openxmlformats.org/officeDocument/2006/relationships/notesSlide" Target="/ppt/notesSlides/notesSlide8.xml" Id="R52514e57cee24a9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9447e4d9c349e0" /><Relationship Type="http://schemas.openxmlformats.org/officeDocument/2006/relationships/notesSlide" Target="/ppt/notesSlides/notesSlide9.xml" Id="Ra3109a9cc6704ac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955f1dacf24857" /><Relationship Type="http://schemas.openxmlformats.org/officeDocument/2006/relationships/notesSlide" Target="/ppt/notesSlides/notesSlide10.xml" Id="R616fc420c2204bb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3e4e847f804404" /><Relationship Type="http://schemas.openxmlformats.org/officeDocument/2006/relationships/notesSlide" Target="/ppt/notesSlides/notesSlide11.xml" Id="R2261781704a84dd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4455CC-3149-45B2-835F-74A84040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51A327-52EF-4E97-A354-30D142A5B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B4AC2B-6FC6-4E49-86D3-D9B473987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486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8A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706326-90BE-4C55-8EC3-D3B83E103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19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792A14-FBBE-4FBD-8B67-D28A0D25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57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3C5FD">
              <a:alpha val="9412"/>
            </a:srgbClr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37B724-4B27-415E-9CBD-B4730530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93C5FD"/>
                </a:solidFill>
                <a:latin typeface="PingFang SC"/>
                <a:ea typeface="PingFang SC"/>
                <a:cs typeface="PingFang SC"/>
              </a:defRPr>
            </a:pPr>
            <a:r>
              <a:t>课程设计答辩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B112F8-3DEC-4A14-85E3-1E29E607D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AIChatProcessManager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227416-2C73-4369-AF31-05D39246D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477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C7D2FE"/>
                </a:solidFill>
                <a:latin typeface="PingFang SC"/>
                <a:ea typeface="PingFang SC"/>
                <a:cs typeface="PingFang SC"/>
              </a:defRPr>
            </a:pPr>
            <a:r>
              <a:t>AI 会话过程管理系统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C64D77-D362-4AA0-8CAA-B309BB0AC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0F2FE"/>
                </a:solidFill>
                <a:latin typeface="PingFang SC"/>
                <a:ea typeface="PingFang SC"/>
                <a:cs typeface="PingFang SC"/>
              </a:defRPr>
            </a:pPr>
            <a:r>
              <a:t>面向 AI 回复过程链路的数据建模、权限管理与后台治理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589B05-CCAD-484F-8109-4D14BD1B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C5FD">
              <a:alpha val="50196"/>
            </a:srgbClr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3A79F0-E3D3-45C9-87B1-9EC15225D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192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13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A5EE87-CBCB-410B-8BDF-CFD2C88F5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192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核心数据表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F4E059-FFFB-48CF-A49B-E2C19117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192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9F3BB0-9ACC-4BE4-9512-DBC6BABF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192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权限角色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4635B1-9561-41E1-84B3-BAA775FBD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192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10+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358C53-208E-48E5-B040-4A25CBFA9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192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API 模块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69EB07-4A2D-41C9-B196-B84F9D250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192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7CFF28-91D8-49DC-81D8-94E4C7AF5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192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过程数据维度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D28493-B94F-4D55-822F-E9D98699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239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BFDBFE"/>
                </a:solidFill>
                <a:latin typeface="PingFang SC"/>
                <a:ea typeface="PingFang SC"/>
                <a:cs typeface="PingFang SC"/>
              </a:defRPr>
            </a:pPr>
            <a:r>
              <a:t>Vue 3 / FastAPI / SQLAlchemy / MySQL / Docker Compose</a:t>
            </a:r>
          </a:p>
        </p:txBody>
      </p:sp>
    </p:spTree>
    <p:extLst>
      <p:ext uri="{BB962C8B-B14F-4D97-AF65-F5344CB8AC3E}">
        <p14:creationId xmlns:p14="http://schemas.microsoft.com/office/powerpoint/2010/main" val="39412340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DE3415-42E6-4572-9038-5EADEA16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34FA02-11A5-4076-AA45-B0929FB51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70F94F-5BE0-4DC5-A505-15C915AC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59E7A4-58B8-4F07-9B03-9D55407B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t>AIChatProcessManager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6A1284-5A9A-40B4-9DF5-D059A829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项目要解决的问题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A81E98-AAA3-4ACB-BB73-0FFBB44A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14325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06B102-CFB9-44FE-8B89-13E13D15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7625" cy="23812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DC2626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F09F7E-DE2E-4E65-B383-A4853773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7241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普通聊天系统的问题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8D38FC-7DCC-4117-8BB6-24155350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7241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只保存最终回答，缺少 AI 回复背后的推理、工具调用、模型元数据，后续无法审计、复盘或做质量评估。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974830-3DF9-4719-9ACB-E94A8653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14325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6F39F9-430F-4499-BC3D-DA2E7E96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7625" cy="23812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563EB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B6441E-7F98-463E-8429-8D19D3C47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7241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课程设计的目标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C72B76-4C4B-4146-BA97-C3929450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7241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围绕“用户 - AI 角色 - 会话 - 消息过程”建模，完整保存正文、reasoning、tool_calls、tool_results 与 metadata。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FBCB86-0A49-45D5-A8E9-A3998ED8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14325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C78E46-41D9-447C-BDC5-34B64583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7625" cy="23812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6A34A"/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D8E0B3-E75E-419D-A50C-DCED07FD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7241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管理侧的价值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C50D93-3628-439E-A699-C00CB63C4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7241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支持角色维护、消息审核、反馈分析、用户管理和系统统计，让 AI 会话过程从黑盒变成可管理资产。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6E0E4-5A72-4E63-BEBA-A86C7F9B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991600" cy="81915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6D8369-CB12-467F-9F71-986EBC8B8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7625" cy="8191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7C3AED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62D1CA-B019-4901-96C6-112403378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核心论点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09B046-2C3D-451F-A6AA-9348BD23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本项目不是简单聊天 Demo，而是一个面向 AI 会话过程数据治理的全栈管理系统。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468994-DE00-423E-9847-8924FED5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PingFang SC"/>
                <a:ea typeface="PingFang SC"/>
                <a:cs typeface="PingFang SC"/>
              </a:defRPr>
            </a:pPr>
            <a:r>
              <a:t>课程设计答辩 | AI 会话过程管理系统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E4CE5C-D1CE-4774-B1D4-6E5D9715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PingFang SC"/>
                <a:ea typeface="PingFang SC"/>
                <a:cs typeface="PingFang SC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0469044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FA1396-2095-4D66-A68E-E7A23B8C2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1F951D-097F-41FC-8BB2-E4373518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9E00BD-1CB8-45EE-8C35-B2A00BBA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19F032-8975-45FB-8341-028535981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t>AIChatProcessManager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5114EA-BB6B-4C06-88AD-BF4B89C6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三类角色：权限继承但职责分离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9C4153-F38E-4F6B-8AA4-55F2A608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333625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EA5E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D0B4B8-8B91-41C4-9757-29F339D8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333625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A5E9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2B2D7D-D6D8-45FB-9D78-F2688E38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28825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普通用户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62F908-3CD6-49AC-994A-AB70C0B0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66925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会话、消息、收藏、反馈、个人统计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3A065C-9341-4553-A4CA-35B33004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4D91BE-A796-44AF-87EE-A1371092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C7D61E-F30F-4AEF-B564-03482E5C0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714625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59E0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F9BBE8-D803-4746-972A-54B3015DC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714625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4EEDD4-2519-4FE1-971E-FD8E7C3C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409825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角色维护者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E558A5-D00C-436E-944A-3DE68004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447925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普通用户能力 + AI 角色维护、角色统计、角色反馈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652B89-D07D-45EC-A3FF-CCEAFC45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92EDA6-5451-4256-A432-B050EF55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94E72A-FB68-4513-914B-630C70379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714625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C262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B31715-8B43-4B79-9AA1-FB70194B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714625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2626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BCC1F9-37DF-4C36-9EF3-6503E5E43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409825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管理员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BD05B3-E801-4874-A33A-D9974E3B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447925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角色维护者能力 + 用户管理、消息审核、系统日志、全局统计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2613C2-A1E9-4361-9CF9-0304D2E8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906000" cy="9144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80E523-BFAB-44B8-8909-DA4AEDAE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476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为什么不合并后两者？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F0F95F-306A-4B81-9749-C5C9A1B58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429375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角色维护者是内容运营权限，管理员是平台治理权限。合并会导致维护角色的人同时拥有禁用用户、查看全站消息、改系统数据的能力，权限过大。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A6C9C7-8F64-4B15-87F3-D5B3A62D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PingFang SC"/>
                <a:ea typeface="PingFang SC"/>
                <a:cs typeface="PingFang SC"/>
              </a:defRPr>
            </a:pPr>
            <a:r>
              <a:t>课程设计答辩 | AI 会话过程管理系统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04B74F-E4FE-43F9-BC3A-25FACA17B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PingFang SC"/>
                <a:ea typeface="PingFang SC"/>
                <a:cs typeface="PingFang SC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1372261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F378A7-61B5-4477-A5AF-E9186ECB8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39465A-37E6-488F-B342-32A9F18F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EB83C3-E0F7-4F4F-B61E-7B5D5BAA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044A83-FEE0-45B3-804F-AAD46D67C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t>AIChatProcessManager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36293A-901E-4838-9CF4-B8FB447E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核心业务流程：从会话创建到过程沉淀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27F985-E409-4B96-B667-06128192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4AE4A6-B148-4BD5-B453-B3E2C6DC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95C4C8-874C-47B4-A919-943CB3B15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登录鉴权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8C5EA1-1381-4A4F-B1D7-CB662C76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573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JWT + bcrypt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81319E-0747-4B51-A530-1CB083B9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628D51-CC46-409F-90AA-B80D43AF1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1B3AE3-44EF-4AAA-86C6-719377C0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09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C3A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8685BD-EA8A-4F21-9B0B-D7E59658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0975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573210-96EF-43FA-BFF3-54F25DEC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049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选择角色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7AB9D5-3814-45E2-9CD7-559D27FE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430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通用助手 / 代码专家 / 文档写手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70F368-1941-470C-9AB1-C7FF91D6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D0D77D-AA4A-462B-882E-09167D0E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383F7C-8DEF-4A22-8897-945BA7DE7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09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EA5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C82D77-B6BC-4292-8E86-2625E791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0975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A5E9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398387-3980-4D1D-96D5-66E5A617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049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创建会话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E5BE78-6575-4697-8747-6BD60949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430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绑定 user_id 与 character_id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63B9B3-4C8A-4255-9766-52002AD8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9A220C-1AAC-4180-BAAA-B68909E93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275ED8-6C1E-4071-8FCD-C0D940C87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19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6A34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99FC70-67C1-4EE9-991B-1E6C53258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1925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A34A"/>
          </a:solidFill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D11C53-3978-4A21-9831-A1C20230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144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发送消息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F51477-3C4A-4B3C-8188-41B6F3544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525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用户消息 + AI 回复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7F3F37-1E04-42F8-ABFC-4A4BC96F0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F23389-BEB1-4023-B0C8-6F4A699AC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D7489D-9477-4BB1-BA0D-CD1C50B1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47750" cy="114300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59E0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6477CF-A557-4AF9-835F-867EF9C3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4775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38F88B-8386-46CF-AC27-D406A912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429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过程入库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C165A7-8933-4C92-916B-7D39747BF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810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正文 / 推理 / 工具 / 元数据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17BE61-2F03-4783-AA7A-047DE8998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363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3767DA8-682E-46D9-86BB-DA521A16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34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沉淀后的数据可继续支撑：收藏复用、反馈评价、消息审核、系统统计、角色优化。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A0BD11C-CCEE-48F9-BFDB-6E5B1BCE8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PingFang SC"/>
                <a:ea typeface="PingFang SC"/>
                <a:cs typeface="PingFang SC"/>
              </a:defRPr>
            </a:pPr>
            <a:r>
              <a:t>课程设计答辩 | AI 会话过程管理系统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E82F1CF-AE8F-4219-AE95-6B0655DD4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PingFang SC"/>
                <a:ea typeface="PingFang SC"/>
                <a:cs typeface="PingFang SC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0883965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5CD9D6-6DA6-4721-B5F9-75D054737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03E780-9726-4F08-9002-04625F08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CF3EB2-FE9E-4FB6-906F-2E482295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29480B-3663-42CB-92BD-EBECB937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t>AIChatProcessManager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12BE13-DB9E-4147-9DC8-35235633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系统架构：Vue 前端 + FastAPI 服务 + MySQL 数据层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43FAD8-851F-42BC-BDC5-051E3CED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3812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EA5E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2F3717-6ECD-40C5-BFA1-1C9C78117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38125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A5E9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9E285C-893D-4FF6-8074-6148659E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764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Vue 3 前端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E845CF-5A55-4FE9-AA1B-7F063173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1145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Vite / TypeScript / Element Plus / Pinia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63D342-910F-443D-A83B-107BBA02C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C02A95-DDFE-4279-9D69-4B66FAD11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C989D2-3E5F-4416-AA9B-0FBBCF90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2C0CB9-9D8F-4569-BA84-DE10F46CF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B70EF7-7782-44C1-ADF9-E7099E4E1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5527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FastAPI 后端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0E6237-BCAF-481E-BA61-F024A92D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5908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REST API / Pydantic / JWT / Service 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21DDB0-0641-4FF7-91FA-5B61D3AF2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26E026-408C-46B6-A9C3-BC543173E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4F62AA-0EFA-4C7D-879D-9E670A63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3812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6A3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6E5104-704F-4A87-8BA0-D9B020AF4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38125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A34A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40FC42-E3DD-457B-9936-0D20CB3F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764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MySQL 8.0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3A1263-836A-4C76-A132-1A8B43E20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1145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13 张表 / utf8mb4 / 外键约束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9F4695-AE82-43DA-B9BC-133077D0E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F5C734-EE76-4D34-B930-05701B2E4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t>前端职责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0E5794-C11F-407D-9ADF-A2D2F9BE7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页面路由、状态管理、权限入口、交互反馈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EA6964-EF25-4A83-9FB3-BE5A6193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3B6CC5-456E-4AF9-8F8F-28E476765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  <a:latin typeface="PingFang SC"/>
                <a:ea typeface="PingFang SC"/>
                <a:cs typeface="PingFang SC"/>
              </a:defRPr>
            </a:pPr>
            <a:r>
              <a:t>后端职责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CC21A4-A12D-4CB1-AE56-6EF54240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333625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鉴权、权限校验、业务编排、统一 API 响应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B6596E-47BC-4866-BD55-1D84AF198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163C0C-379E-43BA-8B86-63A8CD41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A34A"/>
                </a:solidFill>
                <a:latin typeface="PingFang SC"/>
                <a:ea typeface="PingFang SC"/>
                <a:cs typeface="PingFang SC"/>
              </a:defRPr>
            </a:pPr>
            <a:r>
              <a:t>数据职责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57AEDB-3A4D-492E-BC48-81AE37A79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333625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过程数据持久化、关联查询、统计分析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5BF5CF-B197-4194-9DB6-F8F2EC77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PingFang SC"/>
                <a:ea typeface="PingFang SC"/>
                <a:cs typeface="PingFang SC"/>
              </a:defRPr>
            </a:pPr>
            <a:r>
              <a:t>课程设计答辩 | AI 会话过程管理系统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FFD4CB-35E5-43D8-8BC9-932F1C6B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PingFang SC"/>
                <a:ea typeface="PingFang SC"/>
                <a:cs typeface="PingFang SC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8135821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3DBBDB-7E4F-4139-A1E2-C550B8B6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DA97FF-CAAF-439E-94E4-A0BEFDC2C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943B60-A024-4BDA-AF79-F90EBC4B7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61389B-7512-44F2-8B6F-F168072E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t>AIChatProcessManager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1E647F-52FB-481C-B4FB-481D5D1F8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数据库设计：13 张表覆盖会话过程全链路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F18854-088A-47BD-96D2-C81A2F15B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381250" cy="16192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02FF48-2821-4866-913C-ED64D1540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3812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563EB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3A8B48-5728-475F-B5D0-D0CE7381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383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身份与角色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C31275-3860-457F-881B-9F1462AA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• users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BB7D26-72AB-4EB3-B611-29933C51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• ai_characters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A7D98E-47A3-4B98-BE3F-5BA2CEAC7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• audit_records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405508-901E-4D96-9799-B077A6363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381250" cy="16192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6A3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D41417-7856-41DC-8CBB-79774597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3812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6A34A"/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434A03-F58E-4A74-9610-260BF1F90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383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会话与消息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81AE5D-60D5-4CE1-B975-2DED4099B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• conversations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BAE92F-954C-4715-86F8-E38214248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• messages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0A8C32-94B3-416B-A348-7AFE2A3FD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• message_contents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A2069A-CA2A-4F99-A795-A3A1D60E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381250" cy="16192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C3AE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2BCD6E-013E-46D5-BB05-BDC06D42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3812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7C3AED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BA8894-F37B-42C9-AF67-7FB2E3921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383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AI 过程数据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C28E47-2F5B-4D8C-8613-D5C3FFC0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• message_reasoning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266302-4885-4B8A-B9F9-14563843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• tool_calls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6B2822-C199-408F-9EC7-A6D0E5B5D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• tool_results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11A7F3-4CA3-4B72-B781-7ADCDC53C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• message_metadata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CC91E5-4FC8-428A-BDF5-EA4401DC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381250" cy="16192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59E0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E0F098-80F8-4911-9EFA-177E35A79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3812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9E0B"/>
          </a:solidFill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D78BCD-A3C9-4B33-99BC-9CA35C741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383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互动与运营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B88793-B379-40B6-ACF2-17ABC283C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• message_favorites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1DAE84-1DC6-4FA2-AF7D-DF3DF5A68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• feedbacks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3B7116-C316-4D8A-9658-8BCF8A803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• system_logs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8248CA-7DF8-493D-B166-A25D1D8BB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6774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F14E3E-577D-4284-93C8-D4CCCEB8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设计重点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B22728-10EC-40E7-AE34-29669D49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429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messages 只保存消息主干；正文、推理、工具调用、结果、模型元数据拆表存储，既减少主表膨胀，也便于按需展示与审计。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44C127-05C0-4D49-AD33-240C77CD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PingFang SC"/>
                <a:ea typeface="PingFang SC"/>
                <a:cs typeface="PingFang SC"/>
              </a:defRPr>
            </a:pPr>
            <a:r>
              <a:t>课程设计答辩 | AI 会话过程管理系统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39FC040-4F89-4941-B716-48B88BC9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PingFang SC"/>
                <a:ea typeface="PingFang SC"/>
                <a:cs typeface="PingFang SC"/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6810781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4324C3-8387-4EBE-8326-EC5CE344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D6D9DC-5F39-4827-BE6F-8FE7956B9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F29943-663D-4EAB-91B9-4E8E91DF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9A6590-9FCC-42B9-AA78-09F99D34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t>AIChatProcessManager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19C470-652C-42B3-A57A-B858F648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消息过程链路：把 AI 回复从黑盒拆开保存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8F355C-2C6A-46CB-A9F5-C7E6C660F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202F36-D614-4B66-B4E1-F32B9104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FF8C5A-E911-411D-BB13-EAB2E3F8B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messages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76DCB7-F737-43F3-9A1B-C0DD2A3F1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573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消息主表：角色、序号、状态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85D7B0-27FF-4514-86BF-3C2121FC8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E31AFF-20F3-4EC2-AD2C-E3DD6A2A9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ACD633-CE96-4D9A-8F83-5F4B3F15D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19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EA5E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4A2E55-062C-4517-8D65-7CEE4E5F8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1925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A5E9"/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EBB25B-EF51-47D4-A568-0B867F97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144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contents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B5B5FB-A566-4A8F-BE55-CC6E62B7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525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多段正文：text / code / markdown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5A1D53-4177-4179-A4B3-4C2651B0B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062005-0F53-455E-AC40-24F7270AF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672F13-00E8-4AE4-83A4-E1DA6C3B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19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C3AE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D826C6-A95A-4B20-85AD-74705BD90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1925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49A555-3EA9-41E2-95E6-74B0CC4D1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144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reasoning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3B3AF8-8285-4FCD-A842-D281A012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525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推理过程：可见性控制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3B180D-2C35-47C4-9E3E-60A03CDE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F9EF5F-5E47-4580-A283-C3F85A18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3DDC1B-F67C-4514-A52F-CAF5D6DF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19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59E0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0C90BF-E2B4-4237-8E19-78A6EA18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1925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ED7EE9-5306-4930-9365-5776721A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144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tool calls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8067D9-FD8C-475F-A638-C268F86E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525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工具名、参数、状态、call_id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8EC285-83D7-4F08-810B-7F6F6022B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84A950-0326-4467-A608-94EECA7B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7D109A-7644-40F9-A02D-119A40D75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428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6A3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380B9C-CB00-4AA0-BA0C-63D51DFD0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42875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A34A"/>
          </a:solidFill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8B829C8-9F69-4416-B1E7-9283F70B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239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metadata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33A806-CA59-42B5-A7A7-485BB111E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620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模型、tokens、耗时、finish_reason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68AB6E-6E8E-44D6-BB0A-D37A71DA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8679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展示层支持：普通消息流 + 详情弹窗。详情页可查看 reasoning、tool_calls、tool_results、metadata，适合答辩演示“过程管理”的核心差异。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5A78316-3C06-4D8C-9A3E-956B7D83F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PingFang SC"/>
                <a:ea typeface="PingFang SC"/>
                <a:cs typeface="PingFang SC"/>
              </a:defRPr>
            </a:pPr>
            <a:r>
              <a:t>课程设计答辩 | AI 会话过程管理系统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34BF7FE-95A3-43C7-944E-4E0D30C4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PingFang SC"/>
                <a:ea typeface="PingFang SC"/>
                <a:cs typeface="PingFang SC"/>
              </a:defRPr>
            </a:pPr>
            <a: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8137785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32B35C-0A9E-4342-872A-408E3E9A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5B18FB-283C-42C9-8506-8887564FB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117562-F69C-4151-9721-0165379C2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7B5EF7-0197-4605-958E-8C3E86D9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t>AIChatProcessManager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CEFA1A-C7AD-4BF2-80FF-84A59728E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核心功能模块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74F829-EE37-4CF2-965A-B33158B6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6EE686-AAE1-4A63-8B90-1897C292A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7625" cy="12573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EA5E9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3B2868-4EB1-44A2-96E0-542D66DAE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194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用户端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07BAC6-AB90-4A68-A120-412BEC233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194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登录注册、AI 角色选择、会话列表、聊天页、消息收藏、反馈提交、个人资料。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5614EB-EC6B-4A34-A1A8-81FD4BA6B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87DFDA-8C93-4CDB-A1AA-2E4B8869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7625" cy="12573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59E0B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CC50D-ECBF-44E1-BC30-7EA165D8F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194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角色维护端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E7BB3E-3348-48A8-B3C1-1BEA72B5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194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创建/编辑 AI 角色，查看角色使用统计与角色反馈。管理员继承该权限。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077F1B-BF08-4108-96CE-100D29DB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E72035-C0B5-4435-AEDB-00AA7AE5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7625" cy="12573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DC2626"/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9A8A9C-46BE-4C49-A745-28EE035DF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194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管理后台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FFBEA6-5E32-4EEA-BC34-5238486A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194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用户管理、角色管理、消息审核、反馈管理、系统日志、全局统计。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205735-489B-473D-9550-F5DB08F59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9052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998C4D-E29F-43D7-88C7-6F7D854E2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7625" cy="11620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7C3AED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388A59-ECCA-4776-9F72-2CB46DC0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861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过程数据展示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E7A348-1B96-466E-BA37-D4EB5CCF0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861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消息详情弹窗展示正文块、推理过程、工具调用链、调用结果与模型元数据。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0EE31E-056E-4BC6-9C90-6CD9EBCF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9052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705675-0102-482D-9671-D2D20F694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7625" cy="11620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6A34A"/>
          </a:solidFill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4F291F-B378-44CC-BD0E-D4FBB760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861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业务闭环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912EBA-F92D-4BB7-97E5-D892A2750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861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收藏用于沉淀高价值回复，反馈用于评价角色质量，后台统计用于观察整体使用情况。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D2979D-EABA-4361-996E-5BE4D1D7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PingFang SC"/>
                <a:ea typeface="PingFang SC"/>
                <a:cs typeface="PingFang SC"/>
              </a:defRPr>
            </a:pPr>
            <a:r>
              <a:t>课程设计答辩 | AI 会话过程管理系统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04B980-5DC0-49E0-95C7-EE065BF35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PingFang SC"/>
                <a:ea typeface="PingFang SC"/>
                <a:cs typeface="PingFang SC"/>
              </a:defRPr>
            </a:pPr>
            <a: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0954278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1F7D19-0528-40C7-9475-03927FAF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CAD019-4108-469D-850A-E689881B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5735E7-D8DF-4949-AC3A-80FC1FF5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587CCA-7268-4D62-BAE3-B0522C72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t>AIChatProcessManager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5EFC51-B1CB-4857-ACA5-4953B121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业务逻辑核验：演示前已修正的关键风险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2077A9-78ED-460D-AB86-C65CE2B8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核验项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2EFC37-6AC1-4DE9-A148-91733ECD3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业务规则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5C0164-CE9A-4673-A4F0-F25901D4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当前结果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EB370A-A61F-4F7B-9D0B-4A22ECDF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4394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C0B8FC-3938-4CBC-8437-6E624F56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476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路由前缀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E96C0B-ED6F-4DB5-9A23-F58AB0BF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00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前端统一请求 /api/...；FastAPI 路由全部挂载到 /api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0708EB-5FBE-4EF6-B9A9-E480CEE0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3812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A34A"/>
                </a:solidFill>
                <a:latin typeface="PingFang SC"/>
                <a:ea typeface="PingFang SC"/>
                <a:cs typeface="PingFang SC"/>
              </a:defRPr>
            </a:pPr>
            <a:r>
              <a:t>Not Found 已清理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767417-36D4-4FE4-B945-5A9C97940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4394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03E08E-BF52-4C46-AD51-9237BC1E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476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中文字符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B87D4C-D6D7-4C88-B6C8-EA3786F0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00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MySQL 初始化和 PyMySQL 连接统一 utf8mb4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9C0268-BAB1-4E0D-A6E4-2658BB86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3812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A34A"/>
                </a:solidFill>
                <a:latin typeface="PingFang SC"/>
                <a:ea typeface="PingFang SC"/>
                <a:cs typeface="PingFang SC"/>
              </a:defRPr>
            </a:pPr>
            <a:r>
              <a:t>乱码已修复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9E61F5-8308-4D22-860E-9CC2F5518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4394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4D8227-E1FB-4C70-90B8-59D88FFEB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476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收藏状态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10BAA3-DCB5-42DB-8F75-646E7D42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00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消息列表返回 is_favorited；切换页面后恢复状态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16F043-EB4F-43AC-9CFC-553B6659A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3812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A34A"/>
                </a:solidFill>
                <a:latin typeface="PingFang SC"/>
                <a:ea typeface="PingFang SC"/>
                <a:cs typeface="PingFang SC"/>
              </a:defRPr>
            </a:pPr>
            <a:r>
              <a:t>可持久显示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4727B1-26E5-4F26-85D9-483B5F754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4394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7C05DE-373F-42CA-87A9-71D3D6F3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476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权限隔离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A9A452-EE7F-4679-A5DA-A2BA2C89A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00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只能访问、收藏、反馈自己会话里的消息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637CE5-B9C4-4546-A42F-241F253AC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3812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A34A"/>
                </a:solidFill>
                <a:latin typeface="PingFang SC"/>
                <a:ea typeface="PingFang SC"/>
                <a:cs typeface="PingFang SC"/>
              </a:defRPr>
            </a:pPr>
            <a:r>
              <a:t>越权返回 403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A81F51-CC61-4BF3-8887-322768465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4394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97F19E-212E-4E17-9E08-70E45A53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476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角色删除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BA2B0A-68ED-420B-8889-5C9A2F18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00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业务删除改为禁用，保留历史会话关联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B772CE-F726-47C4-9A58-421AD5B3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3812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A34A"/>
                </a:solidFill>
                <a:latin typeface="PingFang SC"/>
                <a:ea typeface="PingFang SC"/>
                <a:cs typeface="PingFang SC"/>
              </a:defRPr>
            </a:pPr>
            <a:r>
              <a:t>避免外键 500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D09312-D7D9-4CC5-812F-2500F00DC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PingFang SC"/>
                <a:ea typeface="PingFang SC"/>
                <a:cs typeface="PingFang SC"/>
              </a:defRPr>
            </a:pPr>
            <a:r>
              <a:t>课程设计答辩 | AI 会话过程管理系统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3D4705-FF13-462C-B9C9-B097835EF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PingFang SC"/>
                <a:ea typeface="PingFang SC"/>
                <a:cs typeface="PingFang SC"/>
              </a:defRPr>
            </a:pPr>
            <a: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9249853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F47B39-3A7A-4AAF-B672-D8F65CA2E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5FCB1D-52B7-4B2C-AC37-3516308C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2BCB22-CFE7-4E43-8671-334519546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68DAFC-A3B3-416B-9F29-257C81D6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t>AIChatProcessManager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ADCEFC-90B1-491D-91C7-B79BE65F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答辩演示路线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833C84-CFFC-4F4B-8119-EC29FF140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190750" cy="14478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9A75D9-31BB-4451-9AC0-772061849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A5E9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CCB456-47A0-4E9C-AB01-A5BEDCAC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8C5919-9567-4BB8-B088-80DDAE0BA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普通用户登录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F890CF-746E-4215-BF4B-44F9EAA68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954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展示首页、会话列表、角色标签与基础菜单。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15FD1C-D0CB-4D7A-9662-971DC60A5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190750" cy="14478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5F4EA9-9968-44EA-A454-15E449398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513851-2070-48F2-A73F-EC9A3AD86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52EFC1-8312-4D1F-8889-9871CC05C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创建会话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DD6B10-F6BF-43CE-86FB-F6FE7B5A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954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从 AI 角色页进入聊天，发送消息并查看回复。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8ADFDA-61DD-49A9-AA50-1CC4DBF86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190750" cy="14478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3B49FF-1092-4781-A7FA-C7B4B28E6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A852ED-6FA2-44FE-8FB0-93CD22514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5A281A-59B1-45A1-96A0-0AEFF35B4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查看过程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AC8158-FFAD-4A28-9F25-CAB87D0E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954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打开消息详情，展示 reasoning、工具调用和 metadata。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D8D05D-0B6C-4438-8E11-464A26C5E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190750" cy="14478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17B0F2-10B3-433A-BCCD-6893CBD6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A34A"/>
          </a:solidFill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307619-D711-4D4E-9F0B-6A534DB5E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65AF0E-8DB8-4C61-8D0C-7BB81938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互动闭环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3C69C4-3DEF-461F-AFC4-370B5F7A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954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收藏消息、切换页面后回到会话，验证已收藏状态恢复。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1E49FE-5E4A-4F7D-9551-D269DBBFD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190750" cy="14478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AD7F99-D219-4146-A071-2AF28D4A1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2626"/>
          </a:solidFill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673982-3F7A-44ED-A63C-47CA67DC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3F7A69-7C88-4110-AC7D-38AE04DD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管理员后台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69DEF7-AA8C-4704-BB42-8CC67DEF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9545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切换 admin，展示用户管理、消息管理、反馈与统计。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B3E75F-0111-4CE7-B8E4-76BEC934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0772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演示重点：不要只展示“能聊天”，要突出“过程数据被结构化管理”。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B3F5519-85B5-4749-BB9B-8AF1BCB68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PingFang SC"/>
                <a:ea typeface="PingFang SC"/>
                <a:cs typeface="PingFang SC"/>
              </a:defRPr>
            </a:pPr>
            <a:r>
              <a:t>课程设计答辩 | AI 会话过程管理系统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6566EB-3E61-4997-8289-EAB33470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PingFang SC"/>
                <a:ea typeface="PingFang SC"/>
                <a:cs typeface="PingFang SC"/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7766734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92DF1B-B8B1-4A3C-8CF4-F7DFF4663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00CA5E-A97D-4DC5-8708-3A280402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0AC959-EEC5-45AE-B2A1-A58B9B44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A9C9C0-FD5C-4515-BD28-0085254D4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t>AIChatProcessManager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78D344-137A-4712-AD38-92D70233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总结与后续扩展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2B27A4-AA38-4405-8138-7E7822A32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162300" cy="1600200"/>
          </a:xfrm>
          <a:prstGeom xmlns:a="http://schemas.openxmlformats.org/drawingml/2006/main" prst="roundRect">
            <a:avLst>
              <a:gd name="adj" fmla="val 59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AFF2FA-AC31-4149-A2A5-CBA4100C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7625" cy="16002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6A34A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C9E4EC-9A15-4B43-8753-A049487A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7432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已完成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4D34D4-E897-4E0B-BF1E-A75FB1747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7432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全栈架构、13 张表数据模型、三类权限、会话消息过程链路、收藏反馈、管理后台、Docker 运行核验。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F5D1B8-8875-41F7-8CDD-F8F745DC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162300" cy="1600200"/>
          </a:xfrm>
          <a:prstGeom xmlns:a="http://schemas.openxmlformats.org/drawingml/2006/main" prst="roundRect">
            <a:avLst>
              <a:gd name="adj" fmla="val 59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C50B6F-BC1C-4811-9AEC-DC527FAA4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7625" cy="16002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563EB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4860CA-5E83-4DA2-B55A-C0D8B639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7432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项目亮点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00976B-808F-4DCA-8E97-FDA8355F4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7432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围绕 AI 回复过程建模，把 reasoning、tool_calls、tool_results、metadata 从“不可见”变成“可管理”。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D2C430-668F-4ED9-8DCE-34D1C9B6E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162300" cy="1600200"/>
          </a:xfrm>
          <a:prstGeom xmlns:a="http://schemas.openxmlformats.org/drawingml/2006/main" prst="roundRect">
            <a:avLst>
              <a:gd name="adj" fmla="val 59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BCB295-B993-439B-B56D-41BD4C285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7625" cy="16002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7C3AED"/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F27539-F9D6-4A0F-A849-B50419FC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7432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可扩展方向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C45D11-B4AE-46F6-8F2A-9658E46A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7432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t>真实大模型接入、流式输出、自动化测试、统计图表增强、审计策略和多租户权限。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5A6590-37C6-40F9-AE42-BBF3DFAA6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一句话收束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4E9867-6A05-4E2C-90A4-52976A277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t>AIChatProcessManager 的核心价值，是为 AI 应用建立一套可追踪、可审计、可运营的会话过程数据底座。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3CA86F-C53E-4E0D-AD53-884E9011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PingFang SC"/>
                <a:ea typeface="PingFang SC"/>
                <a:cs typeface="PingFang SC"/>
              </a:defRPr>
            </a:pPr>
            <a:r>
              <a:t>课程设计答辩 | AI 会话过程管理系统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8D60EE-E1C0-4D91-985B-691D6EE9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PingFang SC"/>
                <a:ea typeface="PingFang SC"/>
                <a:cs typeface="PingFang SC"/>
              </a:defRPr>
            </a:pPr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913725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2026-06-08T11:31:03.2510000Z</dcterms:created>
  <dcterms:modified xsi:type="dcterms:W3CDTF">2026-06-08T11:31:03.2510000Z</dcterms:modified>
</coreProperties>
</file>