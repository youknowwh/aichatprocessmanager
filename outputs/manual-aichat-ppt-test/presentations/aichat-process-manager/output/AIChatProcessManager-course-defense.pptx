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48105c0a2b4f11" /><Relationship Type="http://schemas.openxmlformats.org/officeDocument/2006/relationships/extended-properties" Target="/docProps/app.xml" Id="Rc89e9a51b5494256" /><Relationship Type="http://schemas.openxmlformats.org/officeDocument/2006/relationships/officeDocument" Target="/ppt/presentation.xml" Id="Rdd109e50e3ac44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d48361785e4e22"/>
  </p:sldMasterIdLst>
  <p:notesMasterIdLst>
    <p:notesMasterId xmlns:r="http://schemas.openxmlformats.org/officeDocument/2006/relationships" r:id="Rc700fa2675f14f9c"/>
  </p:notesMasterIdLst>
  <p:sldIdLst>
    <p:sldId xmlns:r="http://schemas.openxmlformats.org/officeDocument/2006/relationships" id="256" r:id="R4adba9da46f34f2e"/>
    <p:sldId xmlns:r="http://schemas.openxmlformats.org/officeDocument/2006/relationships" id="257" r:id="Rf3cc5b3ea1b04a9a"/>
    <p:sldId xmlns:r="http://schemas.openxmlformats.org/officeDocument/2006/relationships" id="258" r:id="R6c96b1a9dc9e423a"/>
    <p:sldId xmlns:r="http://schemas.openxmlformats.org/officeDocument/2006/relationships" id="259" r:id="Rf6978cd351d647ee"/>
    <p:sldId xmlns:r="http://schemas.openxmlformats.org/officeDocument/2006/relationships" id="260" r:id="R7fcf6ea906b74477"/>
    <p:sldId xmlns:r="http://schemas.openxmlformats.org/officeDocument/2006/relationships" id="261" r:id="R68eabd7d20d24cd6"/>
    <p:sldId xmlns:r="http://schemas.openxmlformats.org/officeDocument/2006/relationships" id="262" r:id="R1f149ea9dbb143ba"/>
    <p:sldId xmlns:r="http://schemas.openxmlformats.org/officeDocument/2006/relationships" id="263" r:id="R496d9852157640c7"/>
    <p:sldId xmlns:r="http://schemas.openxmlformats.org/officeDocument/2006/relationships" id="264" r:id="Rc6a257a63d594e80"/>
    <p:sldId xmlns:r="http://schemas.openxmlformats.org/officeDocument/2006/relationships" id="265" r:id="Rcf8b1b17108d4ab8"/>
    <p:sldId xmlns:r="http://schemas.openxmlformats.org/officeDocument/2006/relationships" id="266" r:id="R6d18cabcb5774e0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a5fcf09bf4b8f" /><Relationship Type="http://schemas.openxmlformats.org/officeDocument/2006/relationships/slideMaster" Target="/ppt/slideMasters/slideMaster1.xml" Id="Rd4d48361785e4e22" /><Relationship Type="http://schemas.openxmlformats.org/officeDocument/2006/relationships/notesMaster" Target="/ppt/notesMasters/notesMaster1.xml" Id="Rc700fa2675f14f9c" /><Relationship Type="http://schemas.openxmlformats.org/officeDocument/2006/relationships/presProps" Target="/ppt/presProps.xml" Id="Rcc647d6fef0c477a" /><Relationship Type="http://schemas.openxmlformats.org/officeDocument/2006/relationships/viewProps" Target="/ppt/viewProps.xml" Id="R3e3fc60e3cc54e78" /><Relationship Type="http://schemas.openxmlformats.org/officeDocument/2006/relationships/tableStyles" Target="/ppt/tableStyles.xml" Id="Rdaa1d5320ee141d9" /><Relationship Type="http://schemas.openxmlformats.org/officeDocument/2006/relationships/slide" Target="/ppt/slides/slide1.xml" Id="R4adba9da46f34f2e" /><Relationship Type="http://schemas.openxmlformats.org/officeDocument/2006/relationships/slide" Target="/ppt/slides/slide2.xml" Id="Rf3cc5b3ea1b04a9a" /><Relationship Type="http://schemas.openxmlformats.org/officeDocument/2006/relationships/slide" Target="/ppt/slides/slide3.xml" Id="R6c96b1a9dc9e423a" /><Relationship Type="http://schemas.openxmlformats.org/officeDocument/2006/relationships/slide" Target="/ppt/slides/slide4.xml" Id="Rf6978cd351d647ee" /><Relationship Type="http://schemas.openxmlformats.org/officeDocument/2006/relationships/slide" Target="/ppt/slides/slide5.xml" Id="R7fcf6ea906b74477" /><Relationship Type="http://schemas.openxmlformats.org/officeDocument/2006/relationships/slide" Target="/ppt/slides/slide6.xml" Id="R68eabd7d20d24cd6" /><Relationship Type="http://schemas.openxmlformats.org/officeDocument/2006/relationships/slide" Target="/ppt/slides/slide7.xml" Id="R1f149ea9dbb143ba" /><Relationship Type="http://schemas.openxmlformats.org/officeDocument/2006/relationships/slide" Target="/ppt/slides/slide8.xml" Id="R496d9852157640c7" /><Relationship Type="http://schemas.openxmlformats.org/officeDocument/2006/relationships/slide" Target="/ppt/slides/slide9.xml" Id="Rc6a257a63d594e80" /><Relationship Type="http://schemas.openxmlformats.org/officeDocument/2006/relationships/slide" Target="/ppt/slides/slide10.xml" Id="Rcf8b1b17108d4ab8" /><Relationship Type="http://schemas.openxmlformats.org/officeDocument/2006/relationships/slide" Target="/ppt/slides/slide11.xml" Id="R6d18cabcb5774e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24c9bdccfd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9314ad7cac464b" /><Relationship Type="http://schemas.openxmlformats.org/officeDocument/2006/relationships/notesMaster" Target="/ppt/notesMasters/notesMaster1.xml" Id="Rcece7805f5f842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1f68520a68408f" /><Relationship Type="http://schemas.openxmlformats.org/officeDocument/2006/relationships/notesMaster" Target="/ppt/notesMasters/notesMaster1.xml" Id="Ra1e13256809e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a74a12366d4c39" /><Relationship Type="http://schemas.openxmlformats.org/officeDocument/2006/relationships/notesMaster" Target="/ppt/notesMasters/notesMaster1.xml" Id="R649d0ebfabb841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2d88ac9e5f4330" /><Relationship Type="http://schemas.openxmlformats.org/officeDocument/2006/relationships/notesMaster" Target="/ppt/notesMasters/notesMaster1.xml" Id="R0527307e899a4a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b748392e2473c" /><Relationship Type="http://schemas.openxmlformats.org/officeDocument/2006/relationships/notesMaster" Target="/ppt/notesMasters/notesMaster1.xml" Id="Rf3ea8ed6fa7d45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d3fba1f18348e9" /><Relationship Type="http://schemas.openxmlformats.org/officeDocument/2006/relationships/notesMaster" Target="/ppt/notesMasters/notesMaster1.xml" Id="Raf64658247bf43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48fbbeeaa14866" /><Relationship Type="http://schemas.openxmlformats.org/officeDocument/2006/relationships/notesMaster" Target="/ppt/notesMasters/notesMaster1.xml" Id="R9f24ce63543a4a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fb56174e0b4478" /><Relationship Type="http://schemas.openxmlformats.org/officeDocument/2006/relationships/notesMaster" Target="/ppt/notesMasters/notesMaster1.xml" Id="R20fbbabdc8f74f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6e7cd9739b4ae2" /><Relationship Type="http://schemas.openxmlformats.org/officeDocument/2006/relationships/notesMaster" Target="/ppt/notesMasters/notesMaster1.xml" Id="R62998db8017b4e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61703e1d3842d1" /><Relationship Type="http://schemas.openxmlformats.org/officeDocument/2006/relationships/notesMaster" Target="/ppt/notesMasters/notesMaster1.xml" Id="R8df4fc41cf284c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16b5452c8f4638" /><Relationship Type="http://schemas.openxmlformats.org/officeDocument/2006/relationships/notesMaster" Target="/ppt/notesMasters/notesMaster1.xml" Id="Rc0018468873042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dec1ffc08244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456ac0172649bb" /><Relationship Type="http://schemas.openxmlformats.org/officeDocument/2006/relationships/slideLayout" Target="/ppt/slideLayouts/slideLayout1.xml" Id="R8d90d25dd4e9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90d25dd4e9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39922383d4592" /><Relationship Type="http://schemas.openxmlformats.org/officeDocument/2006/relationships/notesSlide" Target="/ppt/notesSlides/notesSlide1.xml" Id="R45a010f1dbb74e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8824fb2ca4547" /><Relationship Type="http://schemas.openxmlformats.org/officeDocument/2006/relationships/notesSlide" Target="/ppt/notesSlides/notesSlide2.xml" Id="R7b11bb94c0574a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807b847d467d" /><Relationship Type="http://schemas.openxmlformats.org/officeDocument/2006/relationships/notesSlide" Target="/ppt/notesSlides/notesSlide3.xml" Id="Re642ef658253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7c875f093483b" /><Relationship Type="http://schemas.openxmlformats.org/officeDocument/2006/relationships/notesSlide" Target="/ppt/notesSlides/notesSlide4.xml" Id="R923e53a0da72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ed92546fb4a5a" /><Relationship Type="http://schemas.openxmlformats.org/officeDocument/2006/relationships/notesSlide" Target="/ppt/notesSlides/notesSlide5.xml" Id="Rf7c471dde17840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6d9f467dc4b21" /><Relationship Type="http://schemas.openxmlformats.org/officeDocument/2006/relationships/notesSlide" Target="/ppt/notesSlides/notesSlide6.xml" Id="Rd08f7f5ffbb04d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ce856aff1403e" /><Relationship Type="http://schemas.openxmlformats.org/officeDocument/2006/relationships/notesSlide" Target="/ppt/notesSlides/notesSlide7.xml" Id="Rf4249fcef8c24f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9d9d2bf9a4ed4" /><Relationship Type="http://schemas.openxmlformats.org/officeDocument/2006/relationships/notesSlide" Target="/ppt/notesSlides/notesSlide8.xml" Id="R286d8c78e2f947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ee543270c41c0" /><Relationship Type="http://schemas.openxmlformats.org/officeDocument/2006/relationships/notesSlide" Target="/ppt/notesSlides/notesSlide9.xml" Id="R5075cf9faceb49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0bca6cad4b65" /><Relationship Type="http://schemas.openxmlformats.org/officeDocument/2006/relationships/notesSlide" Target="/ppt/notesSlides/notesSlide10.xml" Id="Rcdf6c755c6e94a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f9b4ed05b44e8" /><Relationship Type="http://schemas.openxmlformats.org/officeDocument/2006/relationships/notesSlide" Target="/ppt/notesSlides/notesSlide11.xml" Id="R16e6b4fb2b7c4f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C15838-6DFB-4306-871A-092565EA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D91B2-EC8D-4F66-A9B6-C3B28741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D77C0-FB4D-448F-A014-7F7BDFCA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8E884-D200-46EE-A447-0D78C97B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9412"/>
            </a:srgbClr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22073-47BD-4444-9013-9F0139F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91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课程设计答辩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64026-83AE-4FBA-810B-7947C881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38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C640-7040-406E-B467-06D50DD8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AI 会话过程管理系统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377A1-5A49-486E-B4D4-6BCDCCF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742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0F2F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0F2FE"/>
                </a:solidFill>
                <a:latin typeface="PingFang SC"/>
                <a:ea typeface="PingFang SC"/>
                <a:cs typeface="PingFang SC"/>
              </a:rPr>
              <a:t>面向 AI 回复过程链路的数据建模、权限管理与后台治理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9DB11-3445-4825-BD48-BD3D69F4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438CE-E69F-4B18-AF03-C5950BD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1A19A-9E53-4287-B755-B0E50B2C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核心数据表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CCC0F-5CFC-48A6-B51B-DF89DA70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6AA82-AC96-4D5B-97F1-63038A5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用户角色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87701-5B34-45B1-9BFA-A97B454B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54F53-093D-4A45-9EDB-F8D9F61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API 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F4243-C087-4DE9-BA89-A403B7E2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A1DE4-A57F-4122-9CB6-7C3866F2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过程数据维度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800C6-437E-438C-8D77-80BE672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FDBF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FDBFE"/>
                </a:solidFill>
                <a:latin typeface="PingFang SC"/>
                <a:ea typeface="PingFang SC"/>
                <a:cs typeface="PingFang SC"/>
              </a:rPr>
              <a:t>Vue 3 / FastAPI / SQLAlchemy / MySQL / 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AE375-51E2-472A-ABAE-ABC4702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960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1FAE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1FAE5"/>
                </a:solidFill>
                <a:latin typeface="PingFang SC"/>
                <a:ea typeface="PingFang SC"/>
                <a:cs typeface="PingFang SC"/>
              </a:rPr>
              <a:t>Phase 1 可运行核验版</a:t>
            </a:r>
          </a:p>
        </p:txBody>
      </p:sp>
    </p:spTree>
    <p:extLst>
      <p:ext uri="{BB962C8B-B14F-4D97-AF65-F5344CB8AC3E}">
        <p14:creationId xmlns:p14="http://schemas.microsoft.com/office/powerpoint/2010/main" val="3015272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9AE71-3792-49E7-8859-FFC4D676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44778-8106-44B8-B177-96745898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DA6C1-C8E8-4F03-848C-468B1FB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C19DA-021A-411A-AFA1-1FE8AFAF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1B856-BAAA-4072-82BC-CCF443C2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项目要解决什么问题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2C6EE-E559-4AB7-BBD0-2634FCF5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F20F-A167-46EF-AFF9-3BB595F5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9171-7313-4CB6-8064-AFFFBFB8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 AI 对话系统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DB699-D38A-4008-BA91-F2AEC1ED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通常只保留用户问题和最终回复，AI 在回复过程中的推理、工具调用、结果、元数据很难被复盘。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264AA-A853-47B2-9F2C-1D55A8FB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694E8-DAB7-4769-A7E3-66A80E98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D8F79-9DAF-4071-8190-0010873E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本项目的核心目标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102662-2516-45D5-9087-4DC0BD60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把一次 AI 会话拆成可管理、可审计、可收藏、可反馈的数据链路，让过程数据真正进入业务系统。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91CD0-F161-4FF1-8216-501381C3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A9CB4-989A-434F-86D0-3FD8E692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FCC1B-7085-4C85-A010-F85910C2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193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管理端价值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5BAB0-DB4B-45B2-988B-D1C6ACCD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7813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普通用户管理自己的 AI 角色与会话；管理员负责用户、角色状态、消息、反馈、日志和统计治理。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937030-B9CD-4C12-8CBA-BDA4B6B0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C6414-A630-4A2F-B793-979D5EC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8637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从“聊天页面”升级为“AI 会话过程管理平台”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F86D3A-1035-49AA-A763-DD7792E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418F3-98E3-409A-8EBE-1CCE9567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4832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第一阶段重点：数据结构、权限边界、前后台完整运行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2B695-B758-44EE-BE2A-7D273387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7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B2B9A-3943-4018-A39B-D7273E1F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010275"/>
            <a:ext cx="910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为后续接入真实大模型、流式响应和统计分析留出接口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1356A-D5F5-4F0A-B8E5-63B56F79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96B03F-919C-4357-A115-5C4852A2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04609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BE822A-38E1-403B-9299-26BB1C03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92CC2-6BE3-4B4B-AA88-5EC9BE2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FD5AD-EFF9-4466-BD95-2AAE71E9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6F764-C39B-4C59-8B82-04BDC361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4C9AB-988C-459D-9A07-6290D7BC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两类用户角色与权限边界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213A5-8ED6-4A1A-833E-BA8D6F03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E3AE4-66B2-4EEE-B8B4-2DF2FAB3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ACEDF-293E-4739-A01F-108208FC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普通用户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F6167-333E-4224-8593-0273A3A8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47950"/>
            <a:ext cx="2705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聊天会话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自定义 AI 角色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收藏消息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提交反馈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查看个人统计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582B9-219A-4027-86A9-B0E9BA9D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6705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7C3CF-0F39-47E9-8658-55B14976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0ACAE-DF65-4633-BC32-821235A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64B48-0AE5-4362-933E-CAAADBDF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8E82F-782D-46CB-94F7-1412A30F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0505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66AF47-10A5-4405-B934-90EE2BB0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47950"/>
            <a:ext cx="2705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用户管理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 角色状态管理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消息治理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反馈处理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日志与系统统计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2C460-9BA1-46C2-B22B-4BDA37D4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971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7E33A-EEC3-4F38-BCA6-761F5B3F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为什么合并“角色维护者”？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B6853-DD96-4A6D-B0FB-39CA806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1015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它本质是用户侧自定义配置：普通用户维护自己的 AI 角色，管理员负责平台级审核和状态治理。这样角色体系更简单，答辩演示也更自然。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FA749-85FB-419F-9D5C-4C56BDD3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AEE7D-68C5-4C57-A581-BA883D6D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7681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6902C1-6DB1-472C-B017-1209FA91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C7E6-5C6C-4674-9434-6D028E44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6296C-DC21-4ABD-9E33-9A6458D0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F0276-EA3A-4BEC-A558-EA6A9022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17936-8A22-4D6D-8C79-AABC445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核心业务流程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AED3B-51FD-462D-AE49-4F415F9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C48D9-E4D7-49BE-A4EE-0170801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000AD-DFBB-4E8B-B09F-A8DE76C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登录鉴权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2A0F4-26BF-41C6-A236-A4AD7913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JWT 识别用户与角色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721D6-45D5-4430-88A4-27DB0FA3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53E29-DE11-4858-A1E2-F75D1DAE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31BDE2-D009-44B7-9528-A5457B86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952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729759-E7DC-435C-8A93-04B9EE8E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8125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7E321-334D-4788-B828-0DE90FDC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59080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选择 AI 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B5021-D24F-4191-8A40-F5B77F00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33700"/>
            <a:ext cx="1609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通用助手 / 代码专家 / 文档写手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863E8-B796-4D89-957D-21D8CEEB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0894A-9D8E-4216-B8CF-FF84112A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F62C1-E387-43D8-A82A-0633030F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8260E-80F8-418A-94E1-A4464EE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2E359-6676-4E86-A3B7-3976CF4E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908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创建会话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3A68F-5860-416B-A39B-AE145D6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933700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会话归属当前用户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AE5DF-C427-47DF-B851-8BA5B381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813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8BE8F1-DFDD-42C3-AA3B-3918115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F4941-81CA-4AC2-A8F0-515E9FC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7621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D12FBE-830F-4EDE-BFED-1542ACDE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F263F-0E53-4375-8544-00237CA8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9080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发送消息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796BF-A1C7-4F52-83A4-B595C623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33700"/>
            <a:ext cx="14192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保存用户消息和 AI 回复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B4A54A-66CD-4D8B-BE3D-DBB6CEAC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81325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208BC-9DD3-4565-A755-DB6793C9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914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0303A-582C-4FDE-9642-68C7D352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1C88D-B699-4F32-99A4-A830137A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0"/>
            <a:ext cx="904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C6FA96-B22F-4CCF-9BC8-A2A0E5D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590800"/>
            <a:ext cx="638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过程入库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067894-E355-41F8-976A-424AD195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33700"/>
            <a:ext cx="561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reasoning / tools /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98BC45-8B2A-4317-A20F-9F073762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流程闭环：消息可查看、可收藏、可反馈；后台可按用户、角色、消息、日志进行治理。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12D38B-4218-4C55-A236-D47C365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04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本轮已重点验证路由、权限、收藏状态、中文编码、消息详情与管理端接口。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7F1089-6702-4CD4-A64A-98766FE6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430726-BB30-477F-8F1A-3E09E041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9283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3AABF-BDC6-4549-A068-F1BD6AD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2817E-184F-4D26-A144-93B629EE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E8001-13B7-4156-9030-635988F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B0E54-5772-4847-B6DD-965F8A1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0240B-4C18-4CD5-ABDC-E83F91EA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19ADDE-9646-46EB-8EAE-619E3F47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19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F0FEC-BFF2-46D1-9F40-89DE417D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80718-E931-4EFD-892E-E7595A03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05050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Vue 3 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CFE92-0172-42FA-8910-225CE871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647950"/>
            <a:ext cx="22764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Element Plus 组件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Pinia 状态管理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Vite production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44467-BEE3-436F-B52B-C2D1D83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6CC6E-3F03-4D34-A210-5624CD1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ECF0D-9C50-4434-82F7-ABE30DEC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619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12BA84-DB5D-481B-A8C0-0BB11EC2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A473C-ABE3-4058-B9B4-AFA4FA50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305050"/>
            <a:ext cx="2352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FastAPI 后端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5F97D-84EE-46CD-B40C-A9F35086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647950"/>
            <a:ext cx="227647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JWT 鉴权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Service 分层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REST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AB1F65-861A-496C-91E2-D29D6569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04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5E136-DAD3-4A31-BDC0-C081D24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384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B451F-489D-436B-981E-35F69C91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2000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FE193-CC12-46FA-8C2C-46D2E8FA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95500"/>
            <a:ext cx="2000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C651E-DCBF-4570-8825-2B981E83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050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MySQL 8.0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B12D1A-CCE1-4D41-B3A1-90467EF8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647950"/>
            <a:ext cx="1657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13 张核心表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utf8mb4 中文支持</a:t>
            </a:r>
          </a:p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种子数据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A5C5D-6C59-4D50-B02B-285DA6A6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4429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AC28D-A6C9-48B5-A5EE-A3C98E1B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24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31464E-A85E-4D18-B997-3436E56B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3971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部署与运行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7CC80F-D6AD-4D32-90EF-B4FC03A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114925"/>
            <a:ext cx="3971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Docker Compose 编排 MySQL / Backend / Frontend；当前说明已改为前台运行，避免后台进程和 watch/reload 模式。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0581C3-5D48-470A-BC86-8F8CB9D9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44291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32E441-20AF-4133-9EDF-1D674D1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2437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05A7B8-9A72-487D-BEF8-DC51CC46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33925"/>
            <a:ext cx="3971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工程验证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972FA-C061-471B-AF2B-0289659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14925"/>
            <a:ext cx="39719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后端导入、ORM 表注册、前端 TypeScript、Vite 构建均已通过；真实模型适配层支持失败回退。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C6252-DE65-4B50-923A-2F0BCBF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7AA52-3962-4150-BA53-EE55F0A7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82434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66B3D-DFD2-4D57-AFC5-6F8BD7A2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AF36-9233-4F31-AEE6-CDE5BFE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37663-6C97-42D8-BCAD-367B96B6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6ECC1-58EC-489C-B352-D6621204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1395A-1823-4604-9144-D00FBB68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数据库设计：13 张核心表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BA816-6F40-44CD-8C82-C5B8A405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C04F4-E9FC-451F-8A95-34D5C502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83B17-BBB3-4B62-86B3-C6C4179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身份与角色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3B2AA-00C4-46A6-832D-AD93EDDA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users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ai_characters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BA112-8E15-483B-8BE1-60E59104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C443E-4658-4EB6-A3C2-BFDABB8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0B03F-E241-44F4-9648-0449E61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会话与消息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A5995D-1FD7-4748-ADE5-E265870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conversations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message_contents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B77D7-2D39-4C05-8CB4-F08FDAA9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B8FB1-5C14-465C-B5A1-C4E35568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0C97D-50E9-451A-9547-9CCA20E2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71675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AI 过程链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ECB6B-549B-4670-AE37-7E8303F5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52675"/>
            <a:ext cx="2019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message_reasoning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tool_calls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tool_results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message_metadata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A8C93-F8E1-4EE6-8170-B3CDBBD1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2286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FF205-12BC-45F7-932D-06307676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62125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9D67D-222B-4517-93DF-00B2D03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71675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交互与治理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1456A-74D4-4AB2-8632-9F3244AA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52675"/>
            <a:ext cx="1828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message_favorites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feedbacks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system_logs</a:t>
            </a:r>
          </a:p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audit_records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2A67FF-C30A-4E3F-86C1-04E37B8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923A8-A2C3-40D0-91EB-56490985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672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设计重点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502810-99DD-402A-A223-0D9AA5A6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863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把“最终回复”拆成内容、推理、工具调用、工具结果、元数据；同时把用户行为和后台治理数据独立建表，便于查询、审计和扩展。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7DC58-E391-48E8-A8DC-4B46D579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F358A-648E-4606-B641-FD19B12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6373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7FF795-2535-4B6F-BF9F-E96F2C9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EA0AA-FB99-43D4-A3B5-E8C52F8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472F3-707C-4BF7-8B2E-B0ABFBED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7052F-DA97-4A21-8066-4DA974DA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A960B-CF97-4E56-83A0-238750C7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消息过程数据链路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941FA-8E6E-4C12-8676-92FD37DB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4EDE1-822D-43A7-B981-1BCF42BC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C64EC-D94C-455B-990A-7D0BFCA8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FDF6D-CF26-4273-B735-220D36EA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90825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一条用户或 AI 消息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F94E9-567B-4079-95E6-2DC52AE9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4B096-2FB3-42C1-9769-C7449484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53227-B603-46F3-82BD-DA23E374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C06C9-B438-4704-BD31-5633DB6A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D43DA-D4A6-4455-8875-9B98988E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479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D2C02-2685-494B-8F8C-E4E0B856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90825"/>
            <a:ext cx="1466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文本 / 图片 / 文件等内容块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24F9B-6281-4BFF-8A80-67D4E938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89BE40-D7F2-46EC-855D-BA23B10A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7B1FF-6AE8-4BD5-BED1-E6000000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D1EBC-F10B-4069-A557-9D77709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1B5E7-0439-4CEB-9A80-D6F19123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47925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8DB31-F95F-42B7-AAD1-48AF9F3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90825"/>
            <a:ext cx="1371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模型思考过程摘要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02578-343B-40AB-A2FB-7B585FE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384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C3EDD-1280-409B-884B-5655177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A5167-B266-465F-9309-9C0C5243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166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01691-86E2-4BDE-8EE1-D3A6C106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38375"/>
            <a:ext cx="16668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79FF2-833C-47CB-A307-271D6D52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47925"/>
            <a:ext cx="1400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tool calls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2F872-4D8F-4C43-846A-3C433816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90825"/>
            <a:ext cx="1323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调用名称、参数、状态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6F359-A1B7-41BB-B2A7-83F551D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384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E4C87B-1021-4DCA-82A3-7B6D4BE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7717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3928C-65DC-44FD-8C81-B3D849B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38375"/>
            <a:ext cx="95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D6D2F-43B2-4B0D-8BD8-DD1D3D12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38375"/>
            <a:ext cx="95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D42732-212F-445C-A6D5-5309E087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44792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6B876-79B8-43E9-879B-714FFBA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9082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工具返回结果与耗时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B657B-31F5-49B8-8F76-0277379F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附加元数据：token、模型、延迟、质量标签等写入 message_metadata。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F1AED-6645-4976-B3A8-62A23833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这样后续接入真实模型时，不需要重做表结构，只需要把生成过程映射到既有链路。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51EA52-4887-4F92-8CB9-E2AF20C6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7964C1-86B5-4033-8DA7-42E4039F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07673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5B1D79-23FD-4D50-8398-E6EB293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1F6C0-49E2-41CD-8BE2-99E6BEDF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77CE5-300E-44B3-9989-641D9E7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04028-E66E-41C3-8186-4498192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4294C-3613-4E1E-AB8F-0049CEAB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功能模块划分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DC460-CEA5-4788-844B-57230EFA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9AA2A-0990-46DC-8329-0445F415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9B728-13E4-4776-9D3E-A2F064B7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前台会话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4EF4F-D03F-4ECB-B5E5-D8E3C71F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登录注册、角色选择、会话列表、聊天详情、消息过程展示、收藏。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05CED-2F91-4AB2-A7E0-6EC0BF8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501FD-A809-4D47-9182-4E33AB8C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0EFA4-4321-43CB-9F1E-88049601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5665E-CD74-4B4F-8285-C2A2C476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普通用户维护自己的 AI 角色；管理员统一管理角色状态和平台可用性。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26312-EF78-4B8B-984F-E73D16DF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81C4A-CCA8-45FB-962B-80D74F3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1D722-AF49-451A-B360-ECF4BE72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7167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后台治理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7735E-35B6-4B42-A9BA-C3C35D8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5267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用户、消息、反馈、系统日志、统计；仅管理员进入。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78EEC5-9795-46D8-A6F8-67C8CB8D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8994F-D850-425C-8B33-B49CD600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D8CFBC-7962-4D62-9DCA-252D94C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交互反馈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7A685-C342-48BA-90ED-6880ABA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收藏消息、提交反馈、查看反馈状态，形成用户侧质量信号。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5F5324-3DC7-4DF4-85C8-2899F131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0DC1F-985B-4F94-840A-F92C9EEC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C4B6A-7883-4C0E-8395-71975A2B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审计日志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1300A-0D8C-442F-9FF5-594C8753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系统操作留痕，支持后续课程展示中的安全与治理说明。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898295-4A64-4BF1-A844-F9350833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B10AA-E7DC-4FD9-BEC4-8CA39921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3E3B64-08EC-4A87-9653-34C8BEB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71925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可扩展接口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6BBDB6-019F-46BD-B4B9-408AB8C8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52925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DeepSeek 适配层、流式响应、统计图表、权限细化都可在当前结构上继续扩展。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85B139-49FF-4D6A-9570-B052D62A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A8E0CB-5A8D-4D34-B6C5-FAFD76B3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737578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A1CCAD-E564-4AC3-A8E9-152D0675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401D5-9067-4325-BB91-65AAE4D6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8E11C-F528-49A4-9921-430C03F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30E70-EDC4-4001-B76C-0FB13449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26BE1-53E2-4BEB-9E98-7051A7F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业务逻辑核验与修正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1154F-7670-45CE-82FE-C50B0708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076325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E7B77-B44B-4D99-BAAC-B12CB71C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BC8CA-B97E-44D1-9A59-712D463D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路由前缀统一：messages / users / favorites / feedbacks 修正为 /api 路径，解决 Not Found。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F7EB1-2F96-4569-B486-F14BFD35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7147B-CC3F-472E-B011-CFED2668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241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中文编码修正：MySQL、SQLAlchemy、seed 数据统一 utf8mb4，清理页面乱码。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3397E-E146-46ED-B66E-68C32D9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2B6AE-0C62-4E46-B944-B0D436D4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03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收藏状态持久化：消息列表返回 is_favorited，切换页面后仍显示“已收藏”。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9DA37-661F-41D5-814F-6EB345AC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A2975-E3B2-4C94-9C5A-EB196880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766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权限隔离：用户不能读取、收藏或反馈别人的消息；普通用户不能进入管理员接口。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89536-62F6-4886-ABAB-0FEE2ABA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D8A80-49A2-49DE-A449-990D9417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528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角色删除改为禁用：避免物理删除影响历史会话数据。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342AE-210A-47C1-AF89-A2A91941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B0EFD-494D-418E-AA05-EEC6D76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角色体系简化：移除独立角色维护者，保留普通用户和管理员两类身份。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E573D-66F8-4659-A0B7-C7E920E6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0EE9E-E8F7-4A9B-A3DA-C3AD1420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05375"/>
            <a:ext cx="9105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配置健壮性：DEBUG=release 可正常解析，DeepSeek 失败时回退模拟 AI。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2B082-A525-45F2-AD26-F37F5C07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62625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核验结论：第一阶段已经从“能构建”推进到“主要业务链路可运行”。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F9BF95-D98C-4601-8A28-20E6116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7B623-4812-4940-88AD-A8ADDB3C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75055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D2EEEC-EF65-4395-8E7E-28FD5F1F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42D0C-53CB-4012-AEC6-6695B1E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08273-DE03-4E46-A27A-94F52179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342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A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443AB-49B6-443E-BEE7-2B2C382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BCB1E-F91D-4CA4-92A7-202778F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演示路线建议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A2A945-1621-4E95-9BF9-EDB403CF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62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382A0-0857-4643-BED2-110F7FD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6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4156F-910E-47AA-A9C9-E545449D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1495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1. 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A7C51-71BF-4727-8DCE-A872D958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14192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user1 / manager / admin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40F565-96CF-4742-BE12-9E56DCE8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0056A-E1E7-4970-8612-807DCB2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2CD3D-6803-49C8-89B4-F20C86E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D716C-BCD1-4AE5-A8FE-67624A4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DFEF5-3081-4765-95E0-9EC303CE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2. 会话列表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080FB9-3A06-43DC-A314-FFEFB67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609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查看中文数据与角色名称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35A90-9F03-42AC-9B98-0867CF57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5AA73-D997-4338-B08E-64FFA5F8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37E8E-5D24-4855-8AC9-4481AD61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905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6B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A22CB-8079-4EB6-A8F7-C2940E3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4DD0F-65BE-4926-A49E-823C09E2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050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3. 聊天详情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14F2D5-572A-405A-82C2-FFCA636E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查看消息和过程数据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70646-C4F6-409D-9EA9-1ECEE4B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2217F-4749-403E-BBE2-90B23978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812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6A2C0-A42E-4D41-8DDE-F32AF87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50875-0C72-4EDC-BF8E-8B9B8F2A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1952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11D9F-0625-4C8B-AF79-2767CF1D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05050"/>
            <a:ext cx="16859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4. 收藏恢复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1FE5F6-1D21-4D9A-99B9-DD939EE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47950"/>
            <a:ext cx="16097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收藏后切换页面再返回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31BB6-9EBF-4C91-A0D9-7EBB570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95750"/>
            <a:ext cx="9810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3F5E0B-53A3-4F6C-A025-17D96BED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62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管理员补充演示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B5AA5-4DF7-4143-82AF-56A2DEC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进入管理后台，依次展示用户管理、角色管理、消息管理、反馈管理、系统日志和统计页面，说明管理员负责平台治理，普通用户负责自己的会话与角色。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42937-67C2-4C95-B4FB-A9CD395D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09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课程设计答辩 | AI 会话过程管理系统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E0DC1-90C0-4BFA-A031-3B927BB3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5151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90468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21FAA-A7EA-4DE3-9E0E-49799CB2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3BACD-6517-4AD1-8BD3-E8B1A54B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>
              <a:alpha val="9412"/>
            </a:srgbClr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9862B-72DF-4C1B-BACF-7F8C7AF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9C9B9-7C11-447A-97E1-C5FCCCA8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阶段总结与下一步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4F9A9-3CD4-432A-824A-5E674A9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BEAF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DBEAFE"/>
                </a:solidFill>
                <a:latin typeface="PingFang SC"/>
                <a:ea typeface="PingFang SC"/>
                <a:cs typeface="PingFang SC"/>
              </a:rPr>
              <a:t>第一阶段已经完成核心模型、前后台页面、两级权限边界与可运行核验。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826EC-0545-46A0-8161-B537A359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D770-5A3C-49C1-9545-1672658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CBC0F-89EF-45F9-B37C-2CE33745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6DC9F-2885-4B71-B885-B1328E00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13 张表注册、前后端构建、Docker 编排、API 冒烟测试、关键业务 bug 修复。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DD4F-C759-4020-84CD-9E256CBB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715B9-68FA-41FA-A9F5-7DC6077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16C4A-7468-4B2C-8430-1D8015DB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E723C0-60B8-4E41-9DBA-6C6618F5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不是普通聊天应用，而是把 AI 回复过程和用户自定义角色作为可管理数据资产沉淀下来。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821C8-7D50-4E7F-BD22-55AF914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71BAE-E7A7-4E64-9BD4-52185665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72DB4-7477-44C9-8E9D-CE9384EB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后续扩展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60008-21D3-4AEC-8A77-0BF4A3CA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686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真实模型接入、流式响应、统计图表、更多审计策略和自动化测试。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E16F9-1C4F-493A-A728-E17928BA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FDBFE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DBFE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04E5B-650E-4229-88C8-FDB14D2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00075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AIChatProcessManager</a:t>
            </a:r>
          </a:p>
        </p:txBody>
      </p:sp>
    </p:spTree>
    <p:extLst>
      <p:ext uri="{BB962C8B-B14F-4D97-AF65-F5344CB8AC3E}">
        <p14:creationId xmlns:p14="http://schemas.microsoft.com/office/powerpoint/2010/main" val="779815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2026-06-09T03:37:57.6020000Z</dcterms:created>
  <dcterms:modified xsi:type="dcterms:W3CDTF">2026-06-09T03:37:57.6020000Z</dcterms:modified>
</coreProperties>
</file>