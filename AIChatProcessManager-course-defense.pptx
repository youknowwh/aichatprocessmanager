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0319078ad944b4" /><Relationship Type="http://schemas.openxmlformats.org/officeDocument/2006/relationships/extended-properties" Target="/docProps/app.xml" Id="Re543ffba545c4e81" /><Relationship Type="http://schemas.openxmlformats.org/officeDocument/2006/relationships/officeDocument" Target="/ppt/presentation.xml" Id="R4e593db59e6442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3a15e7cc2a4b9a"/>
  </p:sldMasterIdLst>
  <p:notesMasterIdLst>
    <p:notesMasterId xmlns:r="http://schemas.openxmlformats.org/officeDocument/2006/relationships" r:id="Re25a3c971e384450"/>
  </p:notesMasterIdLst>
  <p:sldIdLst>
    <p:sldId xmlns:r="http://schemas.openxmlformats.org/officeDocument/2006/relationships" id="256" r:id="R00ddb5e439e84a85"/>
    <p:sldId xmlns:r="http://schemas.openxmlformats.org/officeDocument/2006/relationships" id="257" r:id="Rfb128dfc885d4c41"/>
    <p:sldId xmlns:r="http://schemas.openxmlformats.org/officeDocument/2006/relationships" id="258" r:id="R2602a5a68a5e4aff"/>
    <p:sldId xmlns:r="http://schemas.openxmlformats.org/officeDocument/2006/relationships" id="259" r:id="R5de37bad167c4f7c"/>
    <p:sldId xmlns:r="http://schemas.openxmlformats.org/officeDocument/2006/relationships" id="260" r:id="R6a7b266b3ff44d7e"/>
    <p:sldId xmlns:r="http://schemas.openxmlformats.org/officeDocument/2006/relationships" id="261" r:id="R4a06ecae37ea4e1e"/>
    <p:sldId xmlns:r="http://schemas.openxmlformats.org/officeDocument/2006/relationships" id="262" r:id="R7bae81dd56624a39"/>
    <p:sldId xmlns:r="http://schemas.openxmlformats.org/officeDocument/2006/relationships" id="263" r:id="Rbde758c9fef04dd1"/>
    <p:sldId xmlns:r="http://schemas.openxmlformats.org/officeDocument/2006/relationships" id="264" r:id="Rd1081fd12e694e46"/>
    <p:sldId xmlns:r="http://schemas.openxmlformats.org/officeDocument/2006/relationships" id="265" r:id="Rd0e38d7419ae4010"/>
    <p:sldId xmlns:r="http://schemas.openxmlformats.org/officeDocument/2006/relationships" id="266" r:id="Rf94d545e00d5431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c43430496c45a1" /><Relationship Type="http://schemas.openxmlformats.org/officeDocument/2006/relationships/slideMaster" Target="/ppt/slideMasters/slideMaster1.xml" Id="R5b3a15e7cc2a4b9a" /><Relationship Type="http://schemas.openxmlformats.org/officeDocument/2006/relationships/notesMaster" Target="/ppt/notesMasters/notesMaster1.xml" Id="Re25a3c971e384450" /><Relationship Type="http://schemas.openxmlformats.org/officeDocument/2006/relationships/presProps" Target="/ppt/presProps.xml" Id="Rba3a65def92a4f5e" /><Relationship Type="http://schemas.openxmlformats.org/officeDocument/2006/relationships/viewProps" Target="/ppt/viewProps.xml" Id="Rfed59ed425204506" /><Relationship Type="http://schemas.openxmlformats.org/officeDocument/2006/relationships/tableStyles" Target="/ppt/tableStyles.xml" Id="R06d4544ab62e4068" /><Relationship Type="http://schemas.openxmlformats.org/officeDocument/2006/relationships/slide" Target="/ppt/slides/slide1.xml" Id="R00ddb5e439e84a85" /><Relationship Type="http://schemas.openxmlformats.org/officeDocument/2006/relationships/slide" Target="/ppt/slides/slide2.xml" Id="Rfb128dfc885d4c41" /><Relationship Type="http://schemas.openxmlformats.org/officeDocument/2006/relationships/slide" Target="/ppt/slides/slide3.xml" Id="R2602a5a68a5e4aff" /><Relationship Type="http://schemas.openxmlformats.org/officeDocument/2006/relationships/slide" Target="/ppt/slides/slide4.xml" Id="R5de37bad167c4f7c" /><Relationship Type="http://schemas.openxmlformats.org/officeDocument/2006/relationships/slide" Target="/ppt/slides/slide5.xml" Id="R6a7b266b3ff44d7e" /><Relationship Type="http://schemas.openxmlformats.org/officeDocument/2006/relationships/slide" Target="/ppt/slides/slide6.xml" Id="R4a06ecae37ea4e1e" /><Relationship Type="http://schemas.openxmlformats.org/officeDocument/2006/relationships/slide" Target="/ppt/slides/slide7.xml" Id="R7bae81dd56624a39" /><Relationship Type="http://schemas.openxmlformats.org/officeDocument/2006/relationships/slide" Target="/ppt/slides/slide8.xml" Id="Rbde758c9fef04dd1" /><Relationship Type="http://schemas.openxmlformats.org/officeDocument/2006/relationships/slide" Target="/ppt/slides/slide9.xml" Id="Rd1081fd12e694e46" /><Relationship Type="http://schemas.openxmlformats.org/officeDocument/2006/relationships/slide" Target="/ppt/slides/slide10.xml" Id="Rd0e38d7419ae4010" /><Relationship Type="http://schemas.openxmlformats.org/officeDocument/2006/relationships/slide" Target="/ppt/slides/slide11.xml" Id="Rf94d545e00d543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799e44d0614a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afeee3ece248a2" /><Relationship Type="http://schemas.openxmlformats.org/officeDocument/2006/relationships/notesMaster" Target="/ppt/notesMasters/notesMaster1.xml" Id="R3271dc68605e43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10ec369ecb4020" /><Relationship Type="http://schemas.openxmlformats.org/officeDocument/2006/relationships/notesMaster" Target="/ppt/notesMasters/notesMaster1.xml" Id="Rcf5c6204d0fa49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70eaa0c5c240a7" /><Relationship Type="http://schemas.openxmlformats.org/officeDocument/2006/relationships/notesMaster" Target="/ppt/notesMasters/notesMaster1.xml" Id="Rf521fff011f34b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a28f7204cc42ac" /><Relationship Type="http://schemas.openxmlformats.org/officeDocument/2006/relationships/notesMaster" Target="/ppt/notesMasters/notesMaster1.xml" Id="R646f21b488d045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32b0820aac494a" /><Relationship Type="http://schemas.openxmlformats.org/officeDocument/2006/relationships/notesMaster" Target="/ppt/notesMasters/notesMaster1.xml" Id="Ra3df4dea2f5e45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511c7bcf124d6e" /><Relationship Type="http://schemas.openxmlformats.org/officeDocument/2006/relationships/notesMaster" Target="/ppt/notesMasters/notesMaster1.xml" Id="R616719f18c214f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40b15f75c64a97" /><Relationship Type="http://schemas.openxmlformats.org/officeDocument/2006/relationships/notesMaster" Target="/ppt/notesMasters/notesMaster1.xml" Id="R4d1a262abfdd4d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df110aa59a4c63" /><Relationship Type="http://schemas.openxmlformats.org/officeDocument/2006/relationships/notesMaster" Target="/ppt/notesMasters/notesMaster1.xml" Id="Rebac237f77834a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46737d08d64e3a" /><Relationship Type="http://schemas.openxmlformats.org/officeDocument/2006/relationships/notesMaster" Target="/ppt/notesMasters/notesMaster1.xml" Id="R5f8b2757a27a46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5799acf46545b2" /><Relationship Type="http://schemas.openxmlformats.org/officeDocument/2006/relationships/notesMaster" Target="/ppt/notesMasters/notesMaster1.xml" Id="R872884472f8340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0035cb6c3349a4" /><Relationship Type="http://schemas.openxmlformats.org/officeDocument/2006/relationships/notesMaster" Target="/ppt/notesMasters/notesMaster1.xml" Id="R6a38ef9d5e5a4a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70f1769aab47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3920df8e9c4689" /><Relationship Type="http://schemas.openxmlformats.org/officeDocument/2006/relationships/slideLayout" Target="/ppt/slideLayouts/slideLayout1.xml" Id="Rb14a6593253c40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4a6593253c40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3888f4c2d45ef" /><Relationship Type="http://schemas.openxmlformats.org/officeDocument/2006/relationships/notesSlide" Target="/ppt/notesSlides/notesSlide1.xml" Id="Rb2b65fbd7dd64e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1ef54b66c4504" /><Relationship Type="http://schemas.openxmlformats.org/officeDocument/2006/relationships/notesSlide" Target="/ppt/notesSlides/notesSlide2.xml" Id="R8a8b8f3f015b4a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ce1fa3ef3435a" /><Relationship Type="http://schemas.openxmlformats.org/officeDocument/2006/relationships/notesSlide" Target="/ppt/notesSlides/notesSlide3.xml" Id="R3d5f6414fd9845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7df13d9574583" /><Relationship Type="http://schemas.openxmlformats.org/officeDocument/2006/relationships/notesSlide" Target="/ppt/notesSlides/notesSlide4.xml" Id="Rda96f9cef20047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7ea3a14ef4eee" /><Relationship Type="http://schemas.openxmlformats.org/officeDocument/2006/relationships/notesSlide" Target="/ppt/notesSlides/notesSlide5.xml" Id="Re9552cf2a1d543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b61d360c341b6" /><Relationship Type="http://schemas.openxmlformats.org/officeDocument/2006/relationships/notesSlide" Target="/ppt/notesSlides/notesSlide6.xml" Id="Rd0557ac088f445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2048293564ee3" /><Relationship Type="http://schemas.openxmlformats.org/officeDocument/2006/relationships/notesSlide" Target="/ppt/notesSlides/notesSlide7.xml" Id="R7d224f56603149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03c50cd9f42a2" /><Relationship Type="http://schemas.openxmlformats.org/officeDocument/2006/relationships/notesSlide" Target="/ppt/notesSlides/notesSlide8.xml" Id="R9d4978c1e34b4a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af5669a404d2d" /><Relationship Type="http://schemas.openxmlformats.org/officeDocument/2006/relationships/notesSlide" Target="/ppt/notesSlides/notesSlide9.xml" Id="R9fac9140e2b545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291d4af9d4057" /><Relationship Type="http://schemas.openxmlformats.org/officeDocument/2006/relationships/notesSlide" Target="/ppt/notesSlides/notesSlide10.xml" Id="Ra2533a626aaf43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e28c0a68848d5" /><Relationship Type="http://schemas.openxmlformats.org/officeDocument/2006/relationships/notesSlide" Target="/ppt/notesSlides/notesSlide11.xml" Id="R0cd1232a858a44c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DBD202-AB7B-47EC-9842-7D7CF91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2EA46-FA2C-42A9-A244-FE4B8EDA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962BC-EDC3-4752-A2FE-CB75ECE0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93B03-CD37-4743-BC06-B62C1740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>
              <a:alpha val="9412"/>
            </a:srgbClr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DFD8D-2191-4FC4-B5DD-85BE4B65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91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课程设计答辩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46731-2269-4BAE-A230-F273CF74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38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70A4F-64E8-4426-A1BE-9BB849A4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BEAFE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DBEAFE"/>
                </a:solidFill>
                <a:latin typeface="PingFang SC"/>
                <a:ea typeface="PingFang SC"/>
                <a:cs typeface="PingFang SC"/>
              </a:rPr>
              <a:t>AI 会话过程管理系统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92129-2717-4730-8D8A-A0F5E681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0F2FE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E0F2FE"/>
                </a:solidFill>
                <a:latin typeface="PingFang SC"/>
                <a:ea typeface="PingFang SC"/>
                <a:cs typeface="PingFang SC"/>
              </a:rPr>
              <a:t>面向 AI 回复过程链路的数据建模、权限管理与后台治理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59829-1C8A-4C33-8D78-F4637245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C8D09-C1BE-4F59-985F-9AB7B411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16800-4D60-49FE-9538-7DBAFCEA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核心数据表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C8921-B2B8-40FF-9F57-A837C9E9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005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0E777-CCEA-4552-9BF8-4CE8909C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业务角色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1DD1B9-8424-4EDC-A234-95385CD7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005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10+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74ED6-65BC-4541-90E8-C2C3A30C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API 模块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9FE4A-1611-46E1-852D-73108ED4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005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5A0AC3-8427-43F0-82C8-E5AFC1E9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过程数据维度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A741F-C0E2-43F3-8633-5B20C715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BF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FDBFE"/>
                </a:solidFill>
                <a:latin typeface="PingFang SC"/>
                <a:ea typeface="PingFang SC"/>
                <a:cs typeface="PingFang SC"/>
              </a:rPr>
              <a:t>Vue 3 / FastAPI / SQLAlchemy / MySQL / Docker Compose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294C11-8CAD-4073-84C3-6EB1827B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0960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1FAE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1FAE5"/>
                </a:solidFill>
                <a:latin typeface="PingFang SC"/>
                <a:ea typeface="PingFang SC"/>
                <a:cs typeface="PingFang SC"/>
              </a:rPr>
              <a:t>Phase 1 可运行核验版</a:t>
            </a:r>
          </a:p>
        </p:txBody>
      </p:sp>
    </p:spTree>
    <p:extLst>
      <p:ext uri="{BB962C8B-B14F-4D97-AF65-F5344CB8AC3E}">
        <p14:creationId xmlns:p14="http://schemas.microsoft.com/office/powerpoint/2010/main" val="13771023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EC6B5C-0591-4A81-BF74-354B661B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4A5D4-115D-434B-BA6D-92B2973B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865B9-E12B-4826-AF18-F0B65E17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34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8FF69-B46B-4D78-90B1-48D5E5FE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FB15E-6059-43C8-AEEE-912D2982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项目要解决什么问题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5E97C-2829-42F1-B2FE-83D1C35A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F5BDA-A22F-42E2-A083-B8C99D31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35B85-495F-45AF-B562-E4339076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传统 AI 对话系统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D1A52-6900-49B6-B5FF-CE7404D0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7813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通常只保留用户问题和最终回复，AI 在回复过程中的推理、工具调用、结果、元数据很难被复盘。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21FB1-B253-476D-BF5E-7B0739AE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6DDD6-7F2B-4529-A6A4-0D95167B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5DB31-626E-4F49-9448-122E4140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193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本项目的核心目标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83136-96AA-45A9-8EDC-85E10697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0300"/>
            <a:ext cx="27813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把一次 AI 会话拆成可管理、可审计、可收藏、可反馈的数据链路，让过程数据真正进入业务系统。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BC138A-B590-4466-9110-A534C413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FBCD4-F36A-4989-9455-DB62B945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2CC2A-2F20-4E85-80C7-1BFA6BCF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193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管理端价值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6D86A-32BA-4FBB-B1C1-03360848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7813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管理员可以查看用户、角色、消息、反馈和日志；角色维护者专注维护 AI 角色，不碰系统级权限。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E28279-8196-4EC7-84CE-3A737F34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53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7A332-8104-47BD-98A4-B9A63435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86375"/>
            <a:ext cx="910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从“聊天页面”升级为“AI 会话过程管理平台”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A663D-EAED-48AF-A797-434276BF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412E94-6959-46C7-AE27-740E0454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48325"/>
            <a:ext cx="910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第一阶段重点：数据结构、权限边界、前后台完整运行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48EC70-9FEB-48FC-BCE8-989402C8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7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E5ADCC-C1F5-4D16-A6F0-70865FD3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010275"/>
            <a:ext cx="910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为后续接入真实大模型、流式响应和统计分析留出接口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0D67BA-706E-45CD-82DB-3BCE1B57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73EABD-C2D7-4A52-8952-AEA7B883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393841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6E71D6-5665-4697-A8B5-63E9EC1A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F83DA-D1B9-47E7-AFDF-8B956BC4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A1F39-81B8-4F90-A3DE-F02E49FC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34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CF318-4066-44B7-BABB-7D905FEA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EA267-0207-477C-B235-51F06B74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三类角色与权限边界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A7679-1DB9-4F62-BB90-C57F812F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2714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0924E-7114-42EC-A397-D9260712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2714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77697-88C6-404B-B3D5-78A18D6A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57425"/>
            <a:ext cx="2447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普通用户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AFCF1-C345-40B2-8F19-C47BA672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00325"/>
            <a:ext cx="23717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发起会话、查看消息过程、收藏消息、提交反馈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D3EEF-B638-4214-9174-FE3ED0BE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38450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A184C-F405-487E-AF91-042D5A67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7717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163FE-84E8-459E-8297-1A22FDD7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47875"/>
            <a:ext cx="2714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78907-2752-4BB8-8E87-22B25855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47875"/>
            <a:ext cx="2714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87D3A-5FBE-429E-8AE4-8D8E920D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257425"/>
            <a:ext cx="2447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角色维护者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19265-B109-4FC2-9D20-2034309A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600325"/>
            <a:ext cx="23717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维护 AI 角色资料与状态，服务内容侧配置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539B2-8EB7-4AD9-A8FA-0BC04F29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FED63-56B3-4B3B-9E00-90AFA931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717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B4D2E7-DAD2-4268-9CEB-902E2FB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47875"/>
            <a:ext cx="2714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CF8811-1652-4274-B1BE-4919D687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47875"/>
            <a:ext cx="2714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C67BF9-E4AE-4218-8142-7D9887BA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57425"/>
            <a:ext cx="2447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管理员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474EEA-18CF-4121-AF61-91DFB0B5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00325"/>
            <a:ext cx="23717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用户管理、消息管理、反馈、日志、统计，继承维护者能力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4AA5D-42E4-4CBD-8AEF-6FA1F5AF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971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E95041-9DD7-444F-9987-F7961F1A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910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为什么角色维护者和管理员不合并？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D2879-0B4B-45E8-AA24-63412E06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7205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角色维护是内容配置权限；管理员是平台治理权限。拆开可以避免“能改角色的人也能改用户、看日志、看统计”的越权问题。管理员继承维护能力，但维护者不能反向进入系统管理。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DB5382-FB0F-4560-ADF1-2EDB2E58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7BDF70-1A1C-4050-88A8-2FB041DA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5019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28B36B-FCC6-4880-805C-CC6DA144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D03A3-3421-4DDF-B160-46C0AA6A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0564E-F9B0-4496-83C8-C69F35B1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34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5A95C-18D7-4BDA-827D-B0B80A8F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67622-7F26-4DE5-9AF7-115F9AC9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核心业务流程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4BBD9-3046-474A-A395-029DD217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666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12A40-28E4-4CE9-9FC2-3480144A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666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B4BE2-2FAB-4753-A1C7-A01EB2C9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400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登录鉴权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FBE59-5E61-4CF7-ADE6-75A6D0C6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13239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JWT 识别用户与角色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6F435-46F2-4F4E-BE59-C842937D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813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AAD6A-DA31-418E-B6BE-F3A36056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9146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32376-A3C4-422C-85A9-0785B343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81250"/>
            <a:ext cx="1952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6B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9B64B-73C8-41F3-A9A2-C4F76E8E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8125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32896-5A11-442D-A8E5-9E78B71A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590800"/>
            <a:ext cx="1685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选择 AI 角色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DA57C-DB61-4B5A-8896-6CE9075A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933700"/>
            <a:ext cx="1609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通用助手 / 代码专家 / 文档写手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06EE1-EC6F-4665-B9E9-B275F47D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813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7BC44-5CB0-40AA-ADCA-1E282A81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9146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6DB38-7C86-4ADE-B1A9-D69490A0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81250"/>
            <a:ext cx="171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E079B7-06B4-4C57-8CE7-1BA34237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812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44FF77-BAAA-49CC-A433-5D33832D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908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创建会话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2CC2A-87BD-4CBF-95E2-96F47B18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933700"/>
            <a:ext cx="1371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会话归属当前用户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A80758-C409-4172-8C34-C64DBC58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813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06730-4A27-4F96-A183-44222D60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146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43C2D9-8350-4017-8DD8-8D43A0EC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1762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B7C3D2-6113-4EBE-B13C-571F14EF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1762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22B52B-1ED5-4CF2-B98D-EFFF44AD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590800"/>
            <a:ext cx="1495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发送消息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12A81C-10E4-4829-87A4-44A76D3B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33700"/>
            <a:ext cx="14192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保存用户消息和 AI 回复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13E5C0-D6AF-40D3-9122-286E5B57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981325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480012-57A9-41B6-8C4F-0E805746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29146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651047-FA8E-4D2E-B872-F1A8E91A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30DBEE-C118-4F8A-8E62-69EB9EB4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0"/>
            <a:ext cx="904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0DAED7-64CB-4FA4-BFD8-2C1394F9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590800"/>
            <a:ext cx="638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过程入库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E163DC-DE71-4F21-A9F8-F4F569A9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33700"/>
            <a:ext cx="5619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reasoning / tools / metadata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B78BCD-B295-42A4-969F-4DF7E578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流程闭环：消息可查看、可收藏、可反馈；后台可按用户、角色、消息、日志进行治理。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416EBD-AD24-415F-A2CB-7734609E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04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本轮已重点验证路由、权限、收藏状态、中文编码、消息详情与管理端接口。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379D12-FB81-4F2E-AFCA-B8EF496F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EEB95E-B2DB-46E7-BCC2-CB13619A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766487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C53711-E2BC-4C75-AE53-7A09DD70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F9BB8-2444-46B7-AB98-EE1420BB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BEADC-6B60-499A-A50C-60321715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34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68CE0-2208-4F53-8A77-91686437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47D92-97DF-47EB-B666-088972D8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系统架构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7EEC7-1270-4928-9743-C6027ED0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26193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9AA3D-BE86-4D91-B41A-763C4415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2619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245B9-3B05-4966-9B51-94ADFD03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05050"/>
            <a:ext cx="2352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Vue 3 前端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B260B-2005-4243-BDA0-0F5B64B3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47950"/>
            <a:ext cx="22764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Element Plus 组件</a:t>
            </a:r>
          </a:p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Pinia 状态管理</a:t>
            </a:r>
          </a:p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Vite production 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54A9F-ADE5-4741-AEB0-339898DA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05125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C57C6-1FAF-40D6-A7C0-BECBA928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8097A-026E-402C-8EF1-23F602F2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26193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A28E0-0628-4A59-8418-37FF6ECA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2619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4BDBD-20BC-429C-A207-F6A673AF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305050"/>
            <a:ext cx="2352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FastAPI 后端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1050E-8FEA-40D5-882C-83DCBBB7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47950"/>
            <a:ext cx="22764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JWT 鉴权</a:t>
            </a:r>
          </a:p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Service 分层</a:t>
            </a:r>
          </a:p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REST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39951-1C5E-42FF-BDC9-7A3A44E9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7BC08-925F-46ED-975E-0FF51E5D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38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D45A2-DB09-4842-9697-EA5467B4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95500"/>
            <a:ext cx="2000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2D0892-02A8-4AB8-9216-8220763B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9550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669A87-0CE3-4EDC-8BFC-161A2003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050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MySQL 8.0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9E184-0810-45CF-B22A-EB5F2321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647950"/>
            <a:ext cx="16573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13 张核心表</a:t>
            </a:r>
          </a:p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utf8mb4 中文支持</a:t>
            </a:r>
          </a:p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种子数据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47D37-F392-422D-9F01-2B42EFEC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24375"/>
            <a:ext cx="4429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72ADDC-85DB-4916-8ED3-79DF5BFC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2437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01D517-87DA-411F-9440-2E7A2CDC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733925"/>
            <a:ext cx="3971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部署与运行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4245B2-DC20-4E88-A413-8CAB6583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114925"/>
            <a:ext cx="3971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Docker Compose 编排 MySQL / Backend / Frontend；当前说明已改为前台运行，避免后台进程和 watch/reload 模式。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D447E6-4A4D-47A6-B1C5-7804490E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24375"/>
            <a:ext cx="4429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A14E21-445F-459B-BC3D-E8247A4A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2437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3EFFFB-48DE-40CF-9935-FD974A51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33925"/>
            <a:ext cx="3971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工程验证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E69352-14D7-45FE-9ADB-DA4642C4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14925"/>
            <a:ext cx="3971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后端导入、ORM 表注册、前端 TypeScript、Vite 构建、Docker API 冒烟测试均已通过。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27B9BB-DA01-4482-AD7E-0F7B61D1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769B5E-A28D-42D9-922D-CCAB5866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56659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F9E148-8845-4107-BE2D-E77C8ACD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F038D-5E77-4CC1-8983-1E47001C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30BEA-1F82-401E-8867-F0B258E9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34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72D41-1DEA-45D9-8B75-B20E36BC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D1627-C5B2-47B8-BFF5-1017CB4B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数据库设计：13 张核心表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670ED-58FB-407A-8B90-3639EE79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476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523A2-4094-4CC9-B8CB-D57392BA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2A9E8-B436-46D7-A021-7FFDA6E2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71675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身份与角色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16E9D-1F4A-4F45-856F-9ECCA0C9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2019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users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ai_characters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39068-3773-43CF-BB95-6E26218F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62125"/>
            <a:ext cx="2476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5415A-5B57-4373-8CD0-D03301DC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62125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7F740-AE08-424D-91BC-5D671194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71675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会话与消息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F4150-6384-47E7-A777-3DABA5E4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52675"/>
            <a:ext cx="2019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conversations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messages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message_contents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8E79B-FF54-4206-B204-259A4779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2476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92CF9-C09D-4727-A0ED-3469B1CF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9D82C-3656-4A68-BB81-DBFF14EF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71675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过程链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E6981-39C0-4B99-9B30-DF093713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52675"/>
            <a:ext cx="2019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message_reasoning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tool_calls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tool_results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message_metadata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AFCD2B-950C-4560-8F7E-2818551D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98EB8C-0F27-4E47-A4C1-4A49011E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72BD31-C28D-4721-87C7-F60491B4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71675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交互与治理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7D6D6F-F1EB-48F6-844D-53ABE754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52675"/>
            <a:ext cx="1828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message_favorites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feedbacks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system_logs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audit_records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7CBD29-C611-4292-83A0-61724512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DA74A3-12BD-4FFD-AACD-90A2DE60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设计重点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C3ABA8-1B7C-4A3E-83C0-23E85542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863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把“最终回复”拆成内容、推理、工具调用、工具结果、元数据；同时把用户行为和后台治理数据独立建表，便于查询、审计和扩展。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FD5FE0-17C4-494F-A98F-AEB9655C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E8A3EA-8390-4171-B1EE-D564FF92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35270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7F7396-C45A-4A10-944C-FE86E525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8895E-C3D2-406B-AE5C-DE904574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05F92-6123-4925-BBCF-1EC63636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34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A3F8A-1932-4483-8513-BD0F22EA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C2698-EBB0-4260-9FB8-3627B066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消息过程数据链路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CA620-2483-4268-91B6-1DFEAF27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666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B6DEB-FC3E-4F2C-AB9C-848682E0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666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90B7F-729E-476B-8D24-468F8199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47925"/>
            <a:ext cx="1400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messages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6A1F6-3C86-4F7C-BC73-E420DBE6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90825"/>
            <a:ext cx="13239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一条用户或 AI 消息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7D446-786D-4B07-A940-8C95CEF7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1F507-CB56-4A6B-9F07-62D90EE7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717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70C7C-B3F3-426E-818F-805A5EE1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38375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6B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02D45-7B9C-432B-BC5E-B3BE8C04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38375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6CFC2-F0A8-4110-BB6B-7BCA727C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479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contents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7C114-4DED-4612-9832-A0934313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90825"/>
            <a:ext cx="1466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文本 / 图片 / 文件等内容块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C2F60-3675-4951-9AD8-9D019406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384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21F318-B285-4607-83FE-9E3C4A3F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7717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CA3B9-BE21-44E2-A3B8-67274448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171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836B74-8ED8-4976-BC24-5CAF935E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6BA668-9989-4E5E-ADD9-8BA74695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47925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reasoning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CE64C-64D1-453B-8BA6-7AFE5C8D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90825"/>
            <a:ext cx="1371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模型思考过程摘要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1F897F-EEEF-43A8-906C-B347BBED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384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3D64C2-524D-4AB5-9EFC-6E708D61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717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0C0ECF-F64D-49D0-B28B-B6F3BEBA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38375"/>
            <a:ext cx="1666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51182B-3B34-439E-BB3B-1ECCDA2C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38375"/>
            <a:ext cx="1666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A02BC5-B3CB-421B-9EC2-523B02D2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47925"/>
            <a:ext cx="1400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tool calls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B38064-0779-4B48-9C65-456335FF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90825"/>
            <a:ext cx="13239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调用名称、参数、状态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4E8A94-A3EF-4C8D-A9F7-DE6B36E3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384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E124C6-418B-47B0-A158-98F66369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7717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00FBEB-64BE-48A1-BD43-13843BF8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38375"/>
            <a:ext cx="95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3D865A-F07C-46B5-B336-F4A269B6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38375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4B1A90-32A5-4CBB-9F47-57732362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447925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results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B5BBA4-278C-4F2B-8EBF-DD1AB70B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908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工具返回结果与耗时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48D7C5-D63F-4796-902C-FF392FE8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附加元数据：token、模型、延迟、质量标签等写入 message_metadata。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3F9E05-8923-438E-BD56-324BB997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14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这样后续接入真实模型时，不需要重做表结构，只需要把生成过程映射到既有链路。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4BC483-F663-439F-AE30-3B87D259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856EBB-6872-4F6F-B497-CCED7F4F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841843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4E6184-1D6D-40CA-982F-48B294A7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43F08-991A-4AA8-B450-E95EBCDF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7926D-FB53-4FFA-A706-17342B4B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34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45613-8F21-4B34-9CD1-C1AD4E17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BAD91-FA3C-4D80-98CA-EEA28899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功能模块划分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62E78-5035-472A-8121-4E7E2786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204AB-3D1F-4232-837B-7D4A7D7A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95A36-DB75-4098-ABB1-553C4601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71675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前台会话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204BF-20B8-47C2-82FD-D7C32F81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52675"/>
            <a:ext cx="2686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登录注册、角色选择、会话列表、聊天详情、消息过程展示、收藏。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33A15-A6EF-4C1E-85F0-D2A6FA2D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45AB2-1817-4311-BF38-12EA7926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537EDB-8145-436F-BAC2-1342F977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971675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角色维护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5C83F-0974-4246-A2CF-5A1BAB4B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52675"/>
            <a:ext cx="2686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AI 角色列表、状态管理、资料维护；由角色维护者和管理员进入。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E6768-B9D6-4CD2-B50D-B6230502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0FB96-5D44-4E8A-98FA-BFE99A0C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A6505-A448-4CE2-A61D-BDD55809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71675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后台治理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0FD9D-EFAB-4C31-9F94-D70D437B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52675"/>
            <a:ext cx="2686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用户、消息、反馈、系统日志、统计；仅管理员进入。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584CD-E1E1-4B06-8EFE-4AB008C3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21FE5-FBA2-4657-9C68-32585750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2DCD21-00F2-4B9D-84BD-03F85AD8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71925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交互反馈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B50E8F-2111-4E1C-BECB-ED26855C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686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收藏消息、提交反馈、查看反馈状态，形成用户侧质量信号。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0D3E01-C5F8-4A0C-8C11-713A7D59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6237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EA3865-3B01-47C0-9399-94C34915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6237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C7B810-3AEE-4CA5-86D7-BBF39D65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971925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审计日志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B1F7D9-1A6F-478F-8DB4-F7EE1418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352925"/>
            <a:ext cx="2686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系统操作留痕，支持后续课程展示中的安全与治理说明。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8BCAF4-D887-4D45-8D56-D4D86256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6237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E87EB8-E13E-46BE-B538-1D1CB57B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6237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4F345E-7E96-4A64-9DD6-8385EC4A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71925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可扩展接口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FD0420-A520-42FC-AC8B-27B979B1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52925"/>
            <a:ext cx="2686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真实 LLM、流式响应、统计图表、权限细化都可在当前结构上继续扩展。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DD1B56-CF2F-40DD-8748-34FFF5CB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A51BD9-5120-4439-93F1-538F2EDB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25680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25C239-73F9-46CB-804F-EC7130E7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6C9D1-29BC-4B48-A789-C3E28083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BD149-8A38-4AF8-9C8D-38C017F1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34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2CE67-49F9-45F4-9DEC-D5F0DBD3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73BD9-5231-4C70-99A1-807C8808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业务逻辑核验与修正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5C2B6-787B-4160-BF97-9B4B0D8D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07632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5724F-D707-43FD-98F3-A095B367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EE9C9-D967-4E30-B60B-A491AE9F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47875"/>
            <a:ext cx="910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路由前缀统一：messages / users / favorites / feedbacks 修正为 /api 路径，解决 Not Found。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66952-EE76-42CA-96D7-E8BC1CEB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E32CB-3EDD-4B38-9719-D96B1F9F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10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中文编码修正：MySQL、SQLAlchemy、seed 数据统一 utf8mb4，清理页面乱码。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46B5D-F56C-4C71-91C1-5C443843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9C7EC3-4687-4342-B127-30BE9CAC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0375"/>
            <a:ext cx="910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收藏状态持久化：消息列表返回 is_favorited，切换页面后仍显示“已收藏”。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16C87-E786-4AF0-A734-1B3E8F26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B5854-5E57-4145-B346-A1E8837B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76625"/>
            <a:ext cx="910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权限隔离：用户不能读取、收藏或反馈别人的消息；维护者不能进入管理员接口。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4ABA1-9C03-457E-9674-905B0E8D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8DDE8-BA55-4E0E-90A9-4453325D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52875"/>
            <a:ext cx="910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角色删除改为禁用：避免物理删除影响历史会话数据。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87B62-FB41-4B4D-9C3F-B2FDDE40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3D217-BE04-4312-A0A6-962795C1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9125"/>
            <a:ext cx="910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登录提示时长缩短：成功消息 1 秒自动消失，避免挡住页面操作。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7F200-2F65-4E73-9197-8301A501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核验结论：第一阶段已经从“能构建”推进到“主要业务链路可运行”。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29929F-866C-4DF6-ABDD-34E446E0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0F0975-05F7-4030-9750-D96BD122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740618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46964B-DAF2-4BC9-8181-7BB739BB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D9861-D4AC-4BF1-88AA-FF885064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08D21-7AB9-4A69-908D-5554643C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34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B80E6-79F6-4C98-B4E4-812AD4C3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77D3F-2421-40CF-8DAE-80C9723C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演示路线建议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E6D58-7017-4E10-B78C-E1C5B67E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62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4BEFB-2AA3-420E-89BB-79859F3F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62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BD1FA-5B8D-46BA-8971-845AE1BC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495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1. 登录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734E3-11F8-455B-9C0B-823168D7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14192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user1 / manager / 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D1DD8-EE15-4409-A128-1D2029AB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479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C2209-0452-4387-870A-37D52E1D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812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ED011-C472-41DC-A1D0-F4206349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3097B-C0CA-429C-AF86-AEDC0382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E7BC9-87C7-482B-AF93-87D2BC2F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05050"/>
            <a:ext cx="1685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2. 会话列表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8BFD7-5667-41D6-B643-F3EFAADD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16097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查看中文数据与角色名称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662C7-1167-4A13-93C8-E6D13E56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479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E56C9-C03D-4461-B19A-3B07626C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812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4D3FAD-D862-4B21-83A6-0A8693C6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1905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6B6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A3BD2B-A09A-4F7C-9E70-A9AF6D21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02C1A5-A3F4-4176-92E9-A648040D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3. 聊天详情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0FE4FE-1A7F-4E97-96B6-62A2AADD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1562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查看消息和过程数据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79BE34-C617-40DD-A919-D86E419D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51E024-4766-4B0E-A135-D7CE8C9A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5812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A2537D-6E01-41F3-B379-E70C7DCA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C2CD9B-20E3-4BC4-84BA-D01AD4B5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5689C2-BC08-4CBF-974C-2605462B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305050"/>
            <a:ext cx="1685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4. 收藏恢复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01A3EA-7B56-4067-8FE6-E5D46C48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47950"/>
            <a:ext cx="16097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收藏后切换页面再返回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9BE5C1-4C0E-491C-A47B-7F752E9E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981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76EE96-C3AC-451E-B931-58530569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624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管理员补充演示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0C8ED6-F257-4525-9EC1-23F3A2B6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81500"/>
            <a:ext cx="676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进入管理后台，依次展示用户管理、角色管理、消息管理、反馈管理、系统日志和统计页面，说明管理员与角色维护者的权限差异。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BBAD47-9765-41FC-8251-79343CA9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819A6A-B4DF-4F5F-A43F-2876B463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642313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8C123D-A7A7-4FBA-B8B4-9D31180B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33A70-3E15-47EC-A439-436C4DC0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>
              <a:alpha val="9412"/>
            </a:srgbClr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31B1E-BF55-4533-9CC9-D7D9C3BF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F6329-338B-473D-BC26-7A723522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阶段总结与下一步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B354C-5E0F-4F35-91B7-3D4DA01D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BEAFE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BEAFE"/>
                </a:solidFill>
                <a:latin typeface="PingFang SC"/>
                <a:ea typeface="PingFang SC"/>
                <a:cs typeface="PingFang SC"/>
              </a:rPr>
              <a:t>第一阶段已经完成核心模型、前后台页面、权限边界与可运行核验。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4BB31-0042-4548-B4A1-B2C3254E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723C3-F02F-4DB4-A5BB-68E1D9D6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74CC8-A3BC-4630-8EC9-EF396B9D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已经完成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312D5-061A-46E7-BEAB-4F9C3425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2686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13 张表注册、前后端构建、Docker 编排、API 冒烟测试、关键业务 bug 修复。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18B4F-5AEC-4953-A119-C42DC028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43250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0B092-D191-4BAB-AEFE-D6A88CE1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432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166D8-B876-4995-8337-08FBF886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3528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项目亮点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13532-5E62-49D0-819E-E437B62A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733800"/>
            <a:ext cx="2686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不是普通聊天应用，而是把 AI 回复过程作为可管理数据资产沉淀下来。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F5600-2197-4E8E-9792-732E54EF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3A289-3D3D-475B-8A5E-8C6ED204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D7D456-44D8-4877-B504-64ED6901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528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后续扩展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D4E26-7CD0-4BEA-8D7C-7EA4B612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33800"/>
            <a:ext cx="2686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真实模型接入、流式响应、统计图表、更多审计策略和自动化测试。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83539B-C1E5-4422-AAC4-DD6BA5D6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FDBFE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FDBFE"/>
                </a:solidFill>
                <a:latin typeface="PingFang SC"/>
                <a:ea typeface="PingFang SC"/>
                <a:cs typeface="PingFang SC"/>
              </a:rPr>
              <a:t>Thank You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F9BD91-F626-43E9-A9B0-049CA778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0007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</p:spTree>
    <p:extLst>
      <p:ext uri="{BB962C8B-B14F-4D97-AF65-F5344CB8AC3E}">
        <p14:creationId xmlns:p14="http://schemas.microsoft.com/office/powerpoint/2010/main" val="405886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2026-06-08T11:38:37.6390000Z</dcterms:created>
  <dcterms:modified xsi:type="dcterms:W3CDTF">2026-06-08T11:38:37.6390000Z</dcterms:modified>
</coreProperties>
</file>